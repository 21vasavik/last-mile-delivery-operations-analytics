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7" r:id="rId3"/>
    <p:sldId id="258" r:id="rId4"/>
    <p:sldId id="275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59" r:id="rId20"/>
  </p:sldIdLst>
  <p:sldSz cx="12192000" cy="6858000"/>
  <p:notesSz cx="6858000" cy="9144000"/>
  <p:embeddedFontLst>
    <p:embeddedFont>
      <p:font typeface="Book Antiqua" panose="02040602050305030304" pitchFamily="18" charset="0"/>
      <p:regular r:id="rId22"/>
      <p:bold r:id="rId23"/>
      <p:italic r:id="rId24"/>
      <p:boldItalic r:id="rId25"/>
    </p:embeddedFont>
    <p:embeddedFont>
      <p:font typeface="Lato Black" panose="020F0502020204030203" pitchFamily="34" charset="0"/>
      <p:bold r:id="rId26"/>
      <p:boldItalic r:id="rId27"/>
    </p:embeddedFont>
    <p:embeddedFont>
      <p:font typeface="Libre Baskerville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hOJMYRtMJHTmKh9+lTrbj+exko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895252-9916-4F32-9586-D67A77746B06}" v="233" dt="2026-08-21T04:51:36.722"/>
    <p1510:client id="{A08F2CE3-7366-4BC5-87CD-B6785C86236E}" v="3" dt="2026-08-21T07:28:01.0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25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customschemas.google.com/relationships/presentationmetadata" Target="meta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savi K" userId="1363de32e6607af1" providerId="LiveId" clId="{AD1C404E-28D2-49EF-AFB6-C43CD5A179BB}"/>
    <pc:docChg chg="undo custSel addSld delSld modSld">
      <pc:chgData name="Vasavi K" userId="1363de32e6607af1" providerId="LiveId" clId="{AD1C404E-28D2-49EF-AFB6-C43CD5A179BB}" dt="2026-08-21T09:50:14.025" v="35" actId="2696"/>
      <pc:docMkLst>
        <pc:docMk/>
      </pc:docMkLst>
      <pc:sldChg chg="modSp mod">
        <pc:chgData name="Vasavi K" userId="1363de32e6607af1" providerId="LiveId" clId="{AD1C404E-28D2-49EF-AFB6-C43CD5A179BB}" dt="2026-08-21T09:48:40.314" v="33" actId="1076"/>
        <pc:sldMkLst>
          <pc:docMk/>
          <pc:sldMk cId="0" sldId="256"/>
        </pc:sldMkLst>
        <pc:picChg chg="mod">
          <ac:chgData name="Vasavi K" userId="1363de32e6607af1" providerId="LiveId" clId="{AD1C404E-28D2-49EF-AFB6-C43CD5A179BB}" dt="2026-08-21T09:48:40.314" v="33" actId="1076"/>
          <ac:picMkLst>
            <pc:docMk/>
            <pc:sldMk cId="0" sldId="256"/>
            <ac:picMk id="98" creationId="{00000000-0000-0000-0000-000000000000}"/>
          </ac:picMkLst>
        </pc:picChg>
      </pc:sldChg>
      <pc:sldChg chg="modSp mod">
        <pc:chgData name="Vasavi K" userId="1363de32e6607af1" providerId="LiveId" clId="{AD1C404E-28D2-49EF-AFB6-C43CD5A179BB}" dt="2026-08-21T05:40:59.627" v="4" actId="20577"/>
        <pc:sldMkLst>
          <pc:docMk/>
          <pc:sldMk cId="0" sldId="260"/>
        </pc:sldMkLst>
        <pc:spChg chg="mod">
          <ac:chgData name="Vasavi K" userId="1363de32e6607af1" providerId="LiveId" clId="{AD1C404E-28D2-49EF-AFB6-C43CD5A179BB}" dt="2026-08-21T05:40:59.627" v="4" actId="20577"/>
          <ac:spMkLst>
            <pc:docMk/>
            <pc:sldMk cId="0" sldId="260"/>
            <ac:spMk id="104" creationId="{00000000-0000-0000-0000-000000000000}"/>
          </ac:spMkLst>
        </pc:spChg>
      </pc:sldChg>
      <pc:sldChg chg="modSp mod">
        <pc:chgData name="Vasavi K" userId="1363de32e6607af1" providerId="LiveId" clId="{AD1C404E-28D2-49EF-AFB6-C43CD5A179BB}" dt="2026-08-21T05:40:19.828" v="3" actId="20577"/>
        <pc:sldMkLst>
          <pc:docMk/>
          <pc:sldMk cId="0" sldId="273"/>
        </pc:sldMkLst>
        <pc:spChg chg="mod">
          <ac:chgData name="Vasavi K" userId="1363de32e6607af1" providerId="LiveId" clId="{AD1C404E-28D2-49EF-AFB6-C43CD5A179BB}" dt="2026-08-21T05:40:16.606" v="2" actId="20577"/>
          <ac:spMkLst>
            <pc:docMk/>
            <pc:sldMk cId="0" sldId="273"/>
            <ac:spMk id="2" creationId="{8DED07D8-954C-4822-18C8-4B150432DC43}"/>
          </ac:spMkLst>
        </pc:spChg>
        <pc:spChg chg="mod">
          <ac:chgData name="Vasavi K" userId="1363de32e6607af1" providerId="LiveId" clId="{AD1C404E-28D2-49EF-AFB6-C43CD5A179BB}" dt="2026-08-21T05:40:19.828" v="3" actId="20577"/>
          <ac:spMkLst>
            <pc:docMk/>
            <pc:sldMk cId="0" sldId="273"/>
            <ac:spMk id="5" creationId="{230E891C-4A8A-5FF9-68BA-D856A00C6665}"/>
          </ac:spMkLst>
        </pc:spChg>
      </pc:sldChg>
      <pc:sldChg chg="addSp delSp modSp add del mod">
        <pc:chgData name="Vasavi K" userId="1363de32e6607af1" providerId="LiveId" clId="{AD1C404E-28D2-49EF-AFB6-C43CD5A179BB}" dt="2026-08-21T09:50:14.025" v="35" actId="2696"/>
        <pc:sldMkLst>
          <pc:docMk/>
          <pc:sldMk cId="3272681456" sldId="276"/>
        </pc:sldMkLst>
        <pc:spChg chg="mod">
          <ac:chgData name="Vasavi K" userId="1363de32e6607af1" providerId="LiveId" clId="{AD1C404E-28D2-49EF-AFB6-C43CD5A179BB}" dt="2026-08-21T06:44:22.805" v="5" actId="20577"/>
          <ac:spMkLst>
            <pc:docMk/>
            <pc:sldMk cId="3272681456" sldId="276"/>
            <ac:spMk id="2" creationId="{FFDD4C79-6F20-6066-D04D-9CBCF29CD165}"/>
          </ac:spMkLst>
        </pc:spChg>
        <pc:spChg chg="add">
          <ac:chgData name="Vasavi K" userId="1363de32e6607af1" providerId="LiveId" clId="{AD1C404E-28D2-49EF-AFB6-C43CD5A179BB}" dt="2026-08-21T07:27:33.885" v="15" actId="22"/>
          <ac:spMkLst>
            <pc:docMk/>
            <pc:sldMk cId="3272681456" sldId="276"/>
            <ac:spMk id="11" creationId="{EB1E9976-04DB-CB3C-B4F6-19ADDC535D81}"/>
          </ac:spMkLst>
        </pc:spChg>
        <pc:spChg chg="add del">
          <ac:chgData name="Vasavi K" userId="1363de32e6607af1" providerId="LiveId" clId="{AD1C404E-28D2-49EF-AFB6-C43CD5A179BB}" dt="2026-08-21T07:27:36.145" v="16" actId="22"/>
          <ac:spMkLst>
            <pc:docMk/>
            <pc:sldMk cId="3272681456" sldId="276"/>
            <ac:spMk id="16" creationId="{62F206DC-12FC-7127-4F69-2734AE639526}"/>
          </ac:spMkLst>
        </pc:spChg>
        <pc:spChg chg="mod">
          <ac:chgData name="Vasavi K" userId="1363de32e6607af1" providerId="LiveId" clId="{AD1C404E-28D2-49EF-AFB6-C43CD5A179BB}" dt="2026-08-21T07:23:45.489" v="12" actId="20577"/>
          <ac:spMkLst>
            <pc:docMk/>
            <pc:sldMk cId="3272681456" sldId="276"/>
            <ac:spMk id="19" creationId="{CCB947A1-4DD2-DBAA-830B-EE1ACEE86BA2}"/>
          </ac:spMkLst>
        </pc:spChg>
        <pc:spChg chg="add del">
          <ac:chgData name="Vasavi K" userId="1363de32e6607af1" providerId="LiveId" clId="{AD1C404E-28D2-49EF-AFB6-C43CD5A179BB}" dt="2026-08-21T07:27:36.145" v="16" actId="22"/>
          <ac:spMkLst>
            <pc:docMk/>
            <pc:sldMk cId="3272681456" sldId="276"/>
            <ac:spMk id="25" creationId="{A873F4B7-BA3E-D4D0-956B-34CC077CD630}"/>
          </ac:spMkLst>
        </pc:spChg>
        <pc:spChg chg="add del">
          <ac:chgData name="Vasavi K" userId="1363de32e6607af1" providerId="LiveId" clId="{AD1C404E-28D2-49EF-AFB6-C43CD5A179BB}" dt="2026-08-21T07:27:36.145" v="16" actId="22"/>
          <ac:spMkLst>
            <pc:docMk/>
            <pc:sldMk cId="3272681456" sldId="276"/>
            <ac:spMk id="27" creationId="{C52DDA31-B38A-B9E1-09F4-0983CBE2A975}"/>
          </ac:spMkLst>
        </pc:spChg>
        <pc:spChg chg="del">
          <ac:chgData name="Vasavi K" userId="1363de32e6607af1" providerId="LiveId" clId="{AD1C404E-28D2-49EF-AFB6-C43CD5A179BB}" dt="2026-08-21T07:27:36.145" v="16" actId="22"/>
          <ac:spMkLst>
            <pc:docMk/>
            <pc:sldMk cId="3272681456" sldId="276"/>
            <ac:spMk id="29" creationId="{F7D94B04-16D6-5CE6-526E-2D10454E82BE}"/>
          </ac:spMkLst>
        </pc:spChg>
        <pc:spChg chg="add del">
          <ac:chgData name="Vasavi K" userId="1363de32e6607af1" providerId="LiveId" clId="{AD1C404E-28D2-49EF-AFB6-C43CD5A179BB}" dt="2026-08-21T07:27:36.145" v="16" actId="22"/>
          <ac:spMkLst>
            <pc:docMk/>
            <pc:sldMk cId="3272681456" sldId="276"/>
            <ac:spMk id="31" creationId="{8EEBDE65-BC09-CCA9-82C7-5764E3D28F84}"/>
          </ac:spMkLst>
        </pc:spChg>
        <pc:spChg chg="add del">
          <ac:chgData name="Vasavi K" userId="1363de32e6607af1" providerId="LiveId" clId="{AD1C404E-28D2-49EF-AFB6-C43CD5A179BB}" dt="2026-08-21T07:27:36.145" v="16" actId="22"/>
          <ac:spMkLst>
            <pc:docMk/>
            <pc:sldMk cId="3272681456" sldId="276"/>
            <ac:spMk id="35" creationId="{A6AD52DD-BE43-F673-1D06-7E6A6F1FD225}"/>
          </ac:spMkLst>
        </pc:spChg>
        <pc:spChg chg="add del">
          <ac:chgData name="Vasavi K" userId="1363de32e6607af1" providerId="LiveId" clId="{AD1C404E-28D2-49EF-AFB6-C43CD5A179BB}" dt="2026-08-21T07:27:36.145" v="16" actId="22"/>
          <ac:spMkLst>
            <pc:docMk/>
            <pc:sldMk cId="3272681456" sldId="276"/>
            <ac:spMk id="39" creationId="{998C5266-94B2-2CFB-9522-B51061BE1499}"/>
          </ac:spMkLst>
        </pc:spChg>
        <pc:spChg chg="add">
          <ac:chgData name="Vasavi K" userId="1363de32e6607af1" providerId="LiveId" clId="{AD1C404E-28D2-49EF-AFB6-C43CD5A179BB}" dt="2026-08-21T07:27:33.885" v="15" actId="22"/>
          <ac:spMkLst>
            <pc:docMk/>
            <pc:sldMk cId="3272681456" sldId="276"/>
            <ac:spMk id="41" creationId="{7FCC079F-9EF6-DED9-BC2E-6EE052F48A40}"/>
          </ac:spMkLst>
        </pc:spChg>
        <pc:spChg chg="add del">
          <ac:chgData name="Vasavi K" userId="1363de32e6607af1" providerId="LiveId" clId="{AD1C404E-28D2-49EF-AFB6-C43CD5A179BB}" dt="2026-08-21T07:27:36.145" v="16" actId="22"/>
          <ac:spMkLst>
            <pc:docMk/>
            <pc:sldMk cId="3272681456" sldId="276"/>
            <ac:spMk id="43" creationId="{21F1A157-72F9-09A9-D282-91D464E8F1BD}"/>
          </ac:spMkLst>
        </pc:spChg>
        <pc:spChg chg="del">
          <ac:chgData name="Vasavi K" userId="1363de32e6607af1" providerId="LiveId" clId="{AD1C404E-28D2-49EF-AFB6-C43CD5A179BB}" dt="2026-08-21T07:27:36.145" v="16" actId="22"/>
          <ac:spMkLst>
            <pc:docMk/>
            <pc:sldMk cId="3272681456" sldId="276"/>
            <ac:spMk id="45" creationId="{64F47562-A2EF-A350-50A8-3FB424B32590}"/>
          </ac:spMkLst>
        </pc:spChg>
        <pc:spChg chg="add del">
          <ac:chgData name="Vasavi K" userId="1363de32e6607af1" providerId="LiveId" clId="{AD1C404E-28D2-49EF-AFB6-C43CD5A179BB}" dt="2026-08-21T07:27:36.145" v="16" actId="22"/>
          <ac:spMkLst>
            <pc:docMk/>
            <pc:sldMk cId="3272681456" sldId="276"/>
            <ac:spMk id="47" creationId="{586C8F94-EB36-4897-337D-C2DC1120FF7C}"/>
          </ac:spMkLst>
        </pc:spChg>
      </pc:sldChg>
      <pc:sldChg chg="addSp delSp modSp new mod">
        <pc:chgData name="Vasavi K" userId="1363de32e6607af1" providerId="LiveId" clId="{AD1C404E-28D2-49EF-AFB6-C43CD5A179BB}" dt="2026-08-21T07:28:41.585" v="30" actId="1076"/>
        <pc:sldMkLst>
          <pc:docMk/>
          <pc:sldMk cId="535295510" sldId="277"/>
        </pc:sldMkLst>
        <pc:spChg chg="add">
          <ac:chgData name="Vasavi K" userId="1363de32e6607af1" providerId="LiveId" clId="{AD1C404E-28D2-49EF-AFB6-C43CD5A179BB}" dt="2026-08-21T07:27:22.289" v="14" actId="22"/>
          <ac:spMkLst>
            <pc:docMk/>
            <pc:sldMk cId="535295510" sldId="277"/>
            <ac:spMk id="3" creationId="{9F7598FD-599E-DD5F-0435-ABC71A0D46E7}"/>
          </ac:spMkLst>
        </pc:spChg>
        <pc:spChg chg="add">
          <ac:chgData name="Vasavi K" userId="1363de32e6607af1" providerId="LiveId" clId="{AD1C404E-28D2-49EF-AFB6-C43CD5A179BB}" dt="2026-08-21T07:27:22.289" v="14" actId="22"/>
          <ac:spMkLst>
            <pc:docMk/>
            <pc:sldMk cId="535295510" sldId="277"/>
            <ac:spMk id="7" creationId="{45F51E6A-5EAA-D83B-71D4-83B09C6F6CD8}"/>
          </ac:spMkLst>
        </pc:spChg>
        <pc:spChg chg="add">
          <ac:chgData name="Vasavi K" userId="1363de32e6607af1" providerId="LiveId" clId="{AD1C404E-28D2-49EF-AFB6-C43CD5A179BB}" dt="2026-08-21T07:27:22.289" v="14" actId="22"/>
          <ac:spMkLst>
            <pc:docMk/>
            <pc:sldMk cId="535295510" sldId="277"/>
            <ac:spMk id="11" creationId="{3CAD694A-820F-2FD1-84D1-C18A11B0E25F}"/>
          </ac:spMkLst>
        </pc:spChg>
        <pc:spChg chg="add">
          <ac:chgData name="Vasavi K" userId="1363de32e6607af1" providerId="LiveId" clId="{AD1C404E-28D2-49EF-AFB6-C43CD5A179BB}" dt="2026-08-21T07:27:22.289" v="14" actId="22"/>
          <ac:spMkLst>
            <pc:docMk/>
            <pc:sldMk cId="535295510" sldId="277"/>
            <ac:spMk id="13" creationId="{D9AD3D9D-1CEF-9E00-4692-84431CE8C5E5}"/>
          </ac:spMkLst>
        </pc:spChg>
        <pc:spChg chg="add">
          <ac:chgData name="Vasavi K" userId="1363de32e6607af1" providerId="LiveId" clId="{AD1C404E-28D2-49EF-AFB6-C43CD5A179BB}" dt="2026-08-21T07:27:22.289" v="14" actId="22"/>
          <ac:spMkLst>
            <pc:docMk/>
            <pc:sldMk cId="535295510" sldId="277"/>
            <ac:spMk id="15" creationId="{52095870-6480-6AB4-76F8-571EA3F4C926}"/>
          </ac:spMkLst>
        </pc:spChg>
        <pc:spChg chg="add">
          <ac:chgData name="Vasavi K" userId="1363de32e6607af1" providerId="LiveId" clId="{AD1C404E-28D2-49EF-AFB6-C43CD5A179BB}" dt="2026-08-21T07:27:22.289" v="14" actId="22"/>
          <ac:spMkLst>
            <pc:docMk/>
            <pc:sldMk cId="535295510" sldId="277"/>
            <ac:spMk id="17" creationId="{B0E6B7EC-EC37-401B-23FA-AEC848951DFB}"/>
          </ac:spMkLst>
        </pc:spChg>
        <pc:spChg chg="add">
          <ac:chgData name="Vasavi K" userId="1363de32e6607af1" providerId="LiveId" clId="{AD1C404E-28D2-49EF-AFB6-C43CD5A179BB}" dt="2026-08-21T07:27:22.289" v="14" actId="22"/>
          <ac:spMkLst>
            <pc:docMk/>
            <pc:sldMk cId="535295510" sldId="277"/>
            <ac:spMk id="25" creationId="{DDDE2706-401F-5F63-9B65-22A30065DF1A}"/>
          </ac:spMkLst>
        </pc:spChg>
        <pc:spChg chg="add">
          <ac:chgData name="Vasavi K" userId="1363de32e6607af1" providerId="LiveId" clId="{AD1C404E-28D2-49EF-AFB6-C43CD5A179BB}" dt="2026-08-21T07:27:22.289" v="14" actId="22"/>
          <ac:spMkLst>
            <pc:docMk/>
            <pc:sldMk cId="535295510" sldId="277"/>
            <ac:spMk id="27" creationId="{9BB930E9-D5AB-7FD4-0C4C-142A4D5B0856}"/>
          </ac:spMkLst>
        </pc:spChg>
        <pc:spChg chg="add">
          <ac:chgData name="Vasavi K" userId="1363de32e6607af1" providerId="LiveId" clId="{AD1C404E-28D2-49EF-AFB6-C43CD5A179BB}" dt="2026-08-21T07:27:22.289" v="14" actId="22"/>
          <ac:spMkLst>
            <pc:docMk/>
            <pc:sldMk cId="535295510" sldId="277"/>
            <ac:spMk id="29" creationId="{773C4DAE-881A-CCF9-4E23-03B000B727E8}"/>
          </ac:spMkLst>
        </pc:spChg>
        <pc:spChg chg="add">
          <ac:chgData name="Vasavi K" userId="1363de32e6607af1" providerId="LiveId" clId="{AD1C404E-28D2-49EF-AFB6-C43CD5A179BB}" dt="2026-08-21T07:27:22.289" v="14" actId="22"/>
          <ac:spMkLst>
            <pc:docMk/>
            <pc:sldMk cId="535295510" sldId="277"/>
            <ac:spMk id="31" creationId="{6142092F-C54B-8A7E-E2C7-3DB06D96DBE2}"/>
          </ac:spMkLst>
        </pc:spChg>
        <pc:spChg chg="add del mod">
          <ac:chgData name="Vasavi K" userId="1363de32e6607af1" providerId="LiveId" clId="{AD1C404E-28D2-49EF-AFB6-C43CD5A179BB}" dt="2026-08-21T07:27:46.496" v="19"/>
          <ac:spMkLst>
            <pc:docMk/>
            <pc:sldMk cId="535295510" sldId="277"/>
            <ac:spMk id="32" creationId="{C89F2807-DDAF-1331-16E9-602A9F5D641F}"/>
          </ac:spMkLst>
        </pc:spChg>
        <pc:spChg chg="add mod">
          <ac:chgData name="Vasavi K" userId="1363de32e6607af1" providerId="LiveId" clId="{AD1C404E-28D2-49EF-AFB6-C43CD5A179BB}" dt="2026-08-21T07:28:41.585" v="30" actId="1076"/>
          <ac:spMkLst>
            <pc:docMk/>
            <pc:sldMk cId="535295510" sldId="277"/>
            <ac:spMk id="33" creationId="{B8035B0E-89A6-1AFB-F4D4-CD4D4E6078C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yamini" TargetMode="External"/><Relationship Id="rId2" Type="http://schemas.openxmlformats.org/officeDocument/2006/relationships/hyperlink" Target="http://www.linkedin.com/in/vasavi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81951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5" y="3632926"/>
            <a:ext cx="7246189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Book Antiqua" panose="02040602050305030304" pitchFamily="18" charset="0"/>
                <a:ea typeface="Calibri"/>
                <a:cs typeface="Calibri"/>
                <a:sym typeface="Calibri"/>
              </a:rPr>
            </a:br>
            <a:r>
              <a:rPr lang="en-IN" sz="2000" b="0" i="0" u="none" strike="noStrike" cap="none" dirty="0">
                <a:solidFill>
                  <a:schemeClr val="dk1"/>
                </a:solidFill>
                <a:latin typeface="Book Antiqua" panose="02040602050305030304" pitchFamily="18" charset="0"/>
                <a:ea typeface="Calibri"/>
                <a:cs typeface="Calibri"/>
                <a:sym typeface="Calibri"/>
              </a:rPr>
              <a:t>Last-Mile Delivery Operations Analytics</a:t>
            </a:r>
            <a:endParaRPr sz="2000" b="0" i="0" u="none" strike="noStrike" cap="none" dirty="0">
              <a:solidFill>
                <a:srgbClr val="000000"/>
              </a:solidFill>
              <a:latin typeface="Book Antiqua" panose="02040602050305030304" pitchFamily="18" charset="0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80BD16-0990-3754-9B98-98C5C58F0F91}"/>
              </a:ext>
            </a:extLst>
          </p:cNvPr>
          <p:cNvSpPr txBox="1"/>
          <p:nvPr/>
        </p:nvSpPr>
        <p:spPr>
          <a:xfrm>
            <a:off x="9008306" y="4949172"/>
            <a:ext cx="199573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/>
          </a:p>
          <a:p>
            <a:endParaRPr lang="en-IN" sz="1800" b="1" dirty="0"/>
          </a:p>
          <a:p>
            <a:endParaRPr lang="en-IN" sz="1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9F7598FD-599E-DD5F-0435-ABC71A0D46E7}"/>
              </a:ext>
            </a:extLst>
          </p:cNvPr>
          <p:cNvSpPr txBox="1"/>
          <p:nvPr/>
        </p:nvSpPr>
        <p:spPr>
          <a:xfrm>
            <a:off x="1465367" y="1442413"/>
            <a:ext cx="824969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191919"/>
                </a:solidFill>
                <a:latin typeface="Georgia"/>
              </a:defRPr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Vasavi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FD20610-0053-A239-4B65-D1985D58A50C}"/>
              </a:ext>
            </a:extLst>
          </p:cNvPr>
          <p:cNvSpPr txBox="1"/>
          <p:nvPr/>
        </p:nvSpPr>
        <p:spPr>
          <a:xfrm>
            <a:off x="886023" y="2092765"/>
            <a:ext cx="16713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</a:t>
            </a:r>
            <a:r>
              <a:rPr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15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MCA</a:t>
            </a:r>
            <a:endParaRPr sz="1500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F51E6A-5EAA-D83B-71D4-83B09C6F6CD8}"/>
              </a:ext>
            </a:extLst>
          </p:cNvPr>
          <p:cNvSpPr txBox="1"/>
          <p:nvPr/>
        </p:nvSpPr>
        <p:spPr>
          <a:xfrm>
            <a:off x="886023" y="2625775"/>
            <a:ext cx="184909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Experience: </a:t>
            </a:r>
            <a:r>
              <a:rPr sz="16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Fresher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82C4E804-9425-B20B-E731-4A47DAC3791C}"/>
              </a:ext>
            </a:extLst>
          </p:cNvPr>
          <p:cNvSpPr txBox="1"/>
          <p:nvPr/>
        </p:nvSpPr>
        <p:spPr>
          <a:xfrm>
            <a:off x="896186" y="3152000"/>
            <a:ext cx="29740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LinkedIn:</a:t>
            </a:r>
            <a:endParaRPr lang="en-IN" sz="1600" b="1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u="sng" dirty="0">
                <a:solidFill>
                  <a:srgbClr val="0563C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www.linkedin.com/in/</a:t>
            </a:r>
            <a:r>
              <a:rPr lang="en-IN" sz="1600" b="1" u="sng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vasavi</a:t>
            </a:r>
            <a:endParaRPr lang="en-IN" sz="1600" b="1" u="sng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u="sng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-karraiah-477800377</a:t>
            </a:r>
            <a:endParaRPr sz="1600" b="1" u="sng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3CAD694A-820F-2FD1-84D1-C18A11B0E25F}"/>
              </a:ext>
            </a:extLst>
          </p:cNvPr>
          <p:cNvSpPr txBox="1"/>
          <p:nvPr/>
        </p:nvSpPr>
        <p:spPr>
          <a:xfrm>
            <a:off x="896186" y="4116779"/>
            <a:ext cx="275158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IN" sz="1500" b="1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u="sng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https://github.com/21Vasavik</a:t>
            </a:r>
            <a:endParaRPr sz="1600" b="1" u="sng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D9AD3D9D-1CEF-9E00-4692-84431CE8C5E5}"/>
              </a:ext>
            </a:extLst>
          </p:cNvPr>
          <p:cNvSpPr txBox="1"/>
          <p:nvPr/>
        </p:nvSpPr>
        <p:spPr>
          <a:xfrm>
            <a:off x="4923413" y="1442413"/>
            <a:ext cx="1360116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191919"/>
                </a:solidFill>
                <a:latin typeface="Georgia"/>
              </a:defRPr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Nandu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Sree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52095870-6480-6AB4-76F8-571EA3F4C926}"/>
              </a:ext>
            </a:extLst>
          </p:cNvPr>
          <p:cNvSpPr txBox="1"/>
          <p:nvPr/>
        </p:nvSpPr>
        <p:spPr>
          <a:xfrm>
            <a:off x="9271459" y="1442413"/>
            <a:ext cx="863698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191919"/>
                </a:solidFill>
                <a:latin typeface="Georgia"/>
              </a:defRPr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Yamini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0E6B7EC-EC37-401B-23FA-AEC848951DFB}"/>
              </a:ext>
            </a:extLst>
          </p:cNvPr>
          <p:cNvSpPr txBox="1"/>
          <p:nvPr/>
        </p:nvSpPr>
        <p:spPr>
          <a:xfrm>
            <a:off x="8857948" y="2092765"/>
            <a:ext cx="18845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round: </a:t>
            </a:r>
            <a:r>
              <a:rPr sz="15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IN" sz="15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T</a:t>
            </a:r>
            <a:r>
              <a:rPr sz="16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IN" sz="16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16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7F9A8E-132C-C661-1442-56606760BC68}"/>
              </a:ext>
            </a:extLst>
          </p:cNvPr>
          <p:cNvSpPr txBox="1"/>
          <p:nvPr/>
        </p:nvSpPr>
        <p:spPr>
          <a:xfrm>
            <a:off x="8857948" y="2625775"/>
            <a:ext cx="185749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Experience: </a:t>
            </a:r>
            <a:r>
              <a:rPr sz="16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Fresher</a:t>
            </a:r>
          </a:p>
        </p:txBody>
      </p:sp>
      <p:sp>
        <p:nvSpPr>
          <p:cNvPr id="21" name="TextBox 19">
            <a:extLst>
              <a:ext uri="{FF2B5EF4-FFF2-40B4-BE49-F238E27FC236}">
                <a16:creationId xmlns:a16="http://schemas.microsoft.com/office/drawing/2014/main" id="{3063B866-F6D1-675A-1D6E-40BD25518D09}"/>
              </a:ext>
            </a:extLst>
          </p:cNvPr>
          <p:cNvSpPr txBox="1"/>
          <p:nvPr/>
        </p:nvSpPr>
        <p:spPr>
          <a:xfrm>
            <a:off x="8867857" y="3179773"/>
            <a:ext cx="268855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LinkedIn: </a:t>
            </a:r>
            <a:endParaRPr lang="en-IN" sz="1500" b="1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u="sng" dirty="0">
                <a:solidFill>
                  <a:srgbClr val="0563C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www.linkedin.com/in/</a:t>
            </a:r>
            <a:r>
              <a:rPr lang="en-IN" sz="1600" b="1" u="sng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yamini</a:t>
            </a:r>
            <a:endParaRPr lang="en-IN" sz="1600" b="1" u="sng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u="sng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-jakkireddy-9382113a1</a:t>
            </a:r>
            <a:endParaRPr sz="1600" b="1" u="sng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61710FAB-6DD3-400B-A054-ACF362F48051}"/>
              </a:ext>
            </a:extLst>
          </p:cNvPr>
          <p:cNvSpPr txBox="1"/>
          <p:nvPr/>
        </p:nvSpPr>
        <p:spPr>
          <a:xfrm>
            <a:off x="8877425" y="4117314"/>
            <a:ext cx="279025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endParaRPr lang="en-IN" sz="1500" b="1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u="sng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https://github.com/Yamini174</a:t>
            </a:r>
            <a:endParaRPr sz="1500" b="1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E2706-401F-5F63-9B65-22A30065DF1A}"/>
              </a:ext>
            </a:extLst>
          </p:cNvPr>
          <p:cNvSpPr txBox="1"/>
          <p:nvPr/>
        </p:nvSpPr>
        <p:spPr>
          <a:xfrm>
            <a:off x="4619513" y="2092765"/>
            <a:ext cx="1924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Background: </a:t>
            </a:r>
            <a:r>
              <a:rPr lang="en-IN" sz="16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Tech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B930E9-D5AB-7FD4-0C4C-142A4D5B0856}"/>
              </a:ext>
            </a:extLst>
          </p:cNvPr>
          <p:cNvSpPr txBox="1"/>
          <p:nvPr/>
        </p:nvSpPr>
        <p:spPr>
          <a:xfrm>
            <a:off x="4619513" y="2625775"/>
            <a:ext cx="19243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Experience: </a:t>
            </a:r>
            <a:r>
              <a:rPr lang="en-IN" sz="16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Fresher</a:t>
            </a:r>
          </a:p>
          <a:p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3C4DAE-881A-CCF9-4E23-03B000B727E8}"/>
              </a:ext>
            </a:extLst>
          </p:cNvPr>
          <p:cNvSpPr txBox="1"/>
          <p:nvPr/>
        </p:nvSpPr>
        <p:spPr>
          <a:xfrm>
            <a:off x="4619513" y="3152001"/>
            <a:ext cx="2844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LinkedIn:</a:t>
            </a:r>
          </a:p>
          <a:p>
            <a:r>
              <a:rPr lang="en-IN" sz="1600" b="1" u="sng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https://www.linkedin.com/in/nandu-kunchapu-b02210321/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42092F-C54B-8A7E-E2C7-3DB06D96DBE2}"/>
              </a:ext>
            </a:extLst>
          </p:cNvPr>
          <p:cNvSpPr txBox="1"/>
          <p:nvPr/>
        </p:nvSpPr>
        <p:spPr>
          <a:xfrm>
            <a:off x="4619513" y="4116235"/>
            <a:ext cx="27515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GitHub:</a:t>
            </a:r>
          </a:p>
          <a:p>
            <a:r>
              <a:rPr lang="en-IN" sz="1600" b="1" u="sng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https://github.com/kunchapunandu18-dev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035B0E-89A6-1AFB-F4D4-CD4D4E6078C2}"/>
              </a:ext>
            </a:extLst>
          </p:cNvPr>
          <p:cNvSpPr txBox="1"/>
          <p:nvPr/>
        </p:nvSpPr>
        <p:spPr>
          <a:xfrm>
            <a:off x="4743772" y="423744"/>
            <a:ext cx="303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Meet Team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535295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5" y="18250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3200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Table of contents </a:t>
            </a:r>
            <a:endParaRPr sz="3200" b="1" dirty="0">
              <a:solidFill>
                <a:srgbClr val="FF000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10453" y="1337565"/>
            <a:ext cx="10515600" cy="4926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Project Overview</a:t>
            </a:r>
          </a:p>
          <a:p>
            <a:pPr marL="85566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None/>
            </a:pPr>
            <a:endParaRPr lang="en-IN" sz="2253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indent="-371634">
              <a:lnSpc>
                <a:spcPct val="70000"/>
              </a:lnSpc>
              <a:spcBef>
                <a:spcPts val="0"/>
              </a:spcBef>
              <a:buSzPts val="2253"/>
            </a:pPr>
            <a: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Business Scenario</a:t>
            </a:r>
            <a:b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lang="en-US" sz="2253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indent="-371634">
              <a:lnSpc>
                <a:spcPct val="70000"/>
              </a:lnSpc>
              <a:spcBef>
                <a:spcPts val="0"/>
              </a:spcBef>
              <a:buSzPts val="2253"/>
            </a:pPr>
            <a: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Business Objectives</a:t>
            </a:r>
            <a:b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lang="en-US" sz="2253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indent="-371634">
              <a:lnSpc>
                <a:spcPct val="70000"/>
              </a:lnSpc>
              <a:spcBef>
                <a:spcPts val="0"/>
              </a:spcBef>
              <a:buSzPts val="2253"/>
            </a:pPr>
            <a: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Dataset &amp; Database Overview</a:t>
            </a:r>
            <a:b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lang="en-US" sz="2253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indent="-371634">
              <a:lnSpc>
                <a:spcPct val="70000"/>
              </a:lnSpc>
              <a:spcBef>
                <a:spcPts val="0"/>
              </a:spcBef>
              <a:buSzPts val="2253"/>
            </a:pPr>
            <a: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ER Diagram &amp; Database Structure</a:t>
            </a:r>
            <a:b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lang="en-US" sz="2253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indent="-371634">
              <a:lnSpc>
                <a:spcPct val="70000"/>
              </a:lnSpc>
              <a:spcBef>
                <a:spcPts val="0"/>
              </a:spcBef>
              <a:buSzPts val="2253"/>
            </a:pPr>
            <a: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Analysis of the Objectives</a:t>
            </a:r>
            <a:b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lang="en-US" sz="2253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indent="-371634">
              <a:lnSpc>
                <a:spcPct val="70000"/>
              </a:lnSpc>
              <a:spcBef>
                <a:spcPts val="0"/>
              </a:spcBef>
              <a:buSzPts val="2253"/>
            </a:pPr>
            <a: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Overall Key Findings</a:t>
            </a:r>
            <a:b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lang="en-US" sz="2253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indent="-371634">
              <a:lnSpc>
                <a:spcPct val="70000"/>
              </a:lnSpc>
              <a:spcBef>
                <a:spcPts val="0"/>
              </a:spcBef>
              <a:buSzPts val="2253"/>
            </a:pPr>
            <a: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Business Recommendations</a:t>
            </a:r>
            <a:b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lang="en-US" sz="2253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indent="-371634">
              <a:lnSpc>
                <a:spcPct val="70000"/>
              </a:lnSpc>
              <a:spcBef>
                <a:spcPts val="0"/>
              </a:spcBef>
              <a:buSzPts val="2253"/>
            </a:pPr>
            <a: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Conclusion</a:t>
            </a:r>
            <a:b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lang="en-US" sz="2253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indent="-371634">
              <a:lnSpc>
                <a:spcPct val="70000"/>
              </a:lnSpc>
              <a:spcBef>
                <a:spcPts val="0"/>
              </a:spcBef>
              <a:buSzPts val="2253"/>
            </a:pPr>
            <a: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Q&amp;A</a:t>
            </a:r>
            <a:endParaRPr lang="en-IN" sz="2253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96D3AB-3802-9D91-D6CC-D9AB7BD441F6}"/>
              </a:ext>
            </a:extLst>
          </p:cNvPr>
          <p:cNvSpPr/>
          <p:nvPr/>
        </p:nvSpPr>
        <p:spPr>
          <a:xfrm>
            <a:off x="381853" y="1039403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6609-ED3D-2FA4-C785-471E3FB39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97" y="418402"/>
            <a:ext cx="4412512" cy="531053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46533-05DB-61FA-140F-CB8350E70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019" y="1469411"/>
            <a:ext cx="10848578" cy="4420920"/>
          </a:xfrm>
        </p:spPr>
        <p:txBody>
          <a:bodyPr/>
          <a:lstStyle/>
          <a:p>
            <a:pPr marL="114300" indent="0">
              <a:spcAft>
                <a:spcPts val="800"/>
              </a:spcAft>
              <a:buNone/>
              <a:defRPr sz="1700">
                <a:solidFill>
                  <a:srgbClr val="232323"/>
                </a:solidFill>
                <a:latin typeface="Aptos"/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Quick Route Logistics is a last-mile delivery company.</a:t>
            </a:r>
          </a:p>
          <a:p>
            <a:pPr marL="114300" indent="0">
              <a:spcAft>
                <a:spcPts val="800"/>
              </a:spcAft>
              <a:buNone/>
              <a:defRPr sz="1700">
                <a:solidFill>
                  <a:srgbClr val="232323"/>
                </a:solidFill>
                <a:latin typeface="Aptos"/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It manages customers, orders, deliveries, drivers and vehicles.</a:t>
            </a:r>
          </a:p>
          <a:p>
            <a:pPr marL="114300" indent="0">
              <a:spcAft>
                <a:spcPts val="800"/>
              </a:spcAft>
              <a:buNone/>
              <a:defRPr sz="1700">
                <a:solidFill>
                  <a:srgbClr val="232323"/>
                </a:solidFill>
                <a:latin typeface="Aptos"/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MySQL is used to analyze the delivery operations.</a:t>
            </a:r>
          </a:p>
          <a:p>
            <a:pPr marL="114300" indent="0">
              <a:spcAft>
                <a:spcPts val="800"/>
              </a:spcAft>
              <a:buNone/>
              <a:defRPr sz="1700">
                <a:solidFill>
                  <a:srgbClr val="232323"/>
                </a:solidFill>
                <a:latin typeface="Aptos"/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The analysis looks at demand, customers, delivery performance, resources and delivery problems.</a:t>
            </a:r>
          </a:p>
          <a:p>
            <a:pPr marL="114300" indent="0">
              <a:spcAft>
                <a:spcPts val="800"/>
              </a:spcAft>
              <a:buNone/>
              <a:defRPr sz="1700">
                <a:solidFill>
                  <a:srgbClr val="232323"/>
                </a:solidFill>
                <a:latin typeface="Aptos"/>
              </a:defRPr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 </a:t>
            </a:r>
            <a:r>
              <a:rPr lang="en-IN" sz="2000" dirty="0"/>
              <a:t>The project aims to provide data-driven insights for improving delivery planning and         operational efficiency.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169868-B8DB-CBCE-C0E0-FE20A3FA18B0}"/>
              </a:ext>
            </a:extLst>
          </p:cNvPr>
          <p:cNvSpPr/>
          <p:nvPr/>
        </p:nvSpPr>
        <p:spPr>
          <a:xfrm>
            <a:off x="458797" y="1060668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42608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1324560" y="1380874"/>
            <a:ext cx="8138417" cy="2631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800" dirty="0"/>
              <a:t>•   </a:t>
            </a:r>
            <a:r>
              <a:rPr lang="en-IN" sz="1600" b="1" dirty="0"/>
              <a:t>Quick Route Logistics</a:t>
            </a:r>
            <a:r>
              <a:rPr lang="en-IN" sz="1600" dirty="0"/>
              <a:t> aims to improve its last-mile delivery operations.</a:t>
            </a:r>
          </a:p>
          <a:p>
            <a:endParaRPr lang="en-IN" sz="1800" dirty="0"/>
          </a:p>
          <a:p>
            <a:r>
              <a:rPr lang="en-IN" sz="1800" dirty="0"/>
              <a:t>•   </a:t>
            </a:r>
            <a:r>
              <a:rPr lang="en-IN" sz="1600" dirty="0"/>
              <a:t>The Operations team needs insights into </a:t>
            </a:r>
            <a:r>
              <a:rPr lang="en-IN" sz="1600" b="1" dirty="0"/>
              <a:t>demand, delivery performance,   </a:t>
            </a:r>
          </a:p>
          <a:p>
            <a:r>
              <a:rPr lang="en-IN" sz="1600" b="1" dirty="0"/>
              <a:t>    and resource utilization</a:t>
            </a:r>
          </a:p>
          <a:p>
            <a:endParaRPr lang="en-IN" sz="1600" dirty="0"/>
          </a:p>
          <a:p>
            <a:r>
              <a:rPr lang="en-IN" sz="1800" dirty="0"/>
              <a:t>•   </a:t>
            </a:r>
            <a:r>
              <a:rPr lang="en-IN" sz="1600" dirty="0"/>
              <a:t>The analysis helps identify </a:t>
            </a:r>
            <a:r>
              <a:rPr lang="en-IN" sz="1600" b="1" dirty="0"/>
              <a:t>operational gaps and improvement areas</a:t>
            </a:r>
            <a:r>
              <a:rPr lang="en-IN" sz="1600" dirty="0"/>
              <a:t>.</a:t>
            </a:r>
          </a:p>
          <a:p>
            <a:endParaRPr lang="en-IN" sz="1600" dirty="0"/>
          </a:p>
          <a:p>
            <a:r>
              <a:rPr lang="en-IN" sz="1800" dirty="0"/>
              <a:t>•   </a:t>
            </a:r>
            <a:r>
              <a:rPr lang="en-IN" sz="1600" dirty="0"/>
              <a:t>The goal is to support </a:t>
            </a:r>
            <a:r>
              <a:rPr lang="en-IN" sz="1600" b="1" dirty="0"/>
              <a:t>efficient planning and better customer service</a:t>
            </a:r>
            <a:r>
              <a:rPr lang="en-IN" sz="1600" dirty="0"/>
              <a:t>.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000"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88035" y="440678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Business Scenario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AF0CAC-9B2C-40AF-0C13-90D2174F259F}"/>
              </a:ext>
            </a:extLst>
          </p:cNvPr>
          <p:cNvSpPr/>
          <p:nvPr/>
        </p:nvSpPr>
        <p:spPr>
          <a:xfrm>
            <a:off x="488035" y="1086481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F9BA8184-3287-5167-921D-C2371C7956C2}"/>
              </a:ext>
            </a:extLst>
          </p:cNvPr>
          <p:cNvSpPr/>
          <p:nvPr/>
        </p:nvSpPr>
        <p:spPr>
          <a:xfrm>
            <a:off x="822960" y="4160520"/>
            <a:ext cx="2011680" cy="640080"/>
          </a:xfrm>
          <a:prstGeom prst="roundRect">
            <a:avLst/>
          </a:prstGeom>
          <a:solidFill>
            <a:srgbClr val="F7F8FA"/>
          </a:solidFill>
          <a:ln>
            <a:solidFill>
              <a:srgbClr val="D2D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AA37A2-428D-A9C3-CAC2-8E22809CC525}"/>
              </a:ext>
            </a:extLst>
          </p:cNvPr>
          <p:cNvSpPr txBox="1"/>
          <p:nvPr/>
        </p:nvSpPr>
        <p:spPr>
          <a:xfrm>
            <a:off x="896112" y="4297680"/>
            <a:ext cx="1865376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dirty="0">
                <a:solidFill>
                  <a:srgbClr val="1F2D3D"/>
                </a:solidFill>
                <a:latin typeface="Aptos"/>
              </a:rPr>
              <a:t>Customers</a:t>
            </a:r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5A7B19C2-9D83-B4D8-17EB-5DB46FA30A7B}"/>
              </a:ext>
            </a:extLst>
          </p:cNvPr>
          <p:cNvSpPr/>
          <p:nvPr/>
        </p:nvSpPr>
        <p:spPr>
          <a:xfrm>
            <a:off x="3337560" y="4160520"/>
            <a:ext cx="1828800" cy="640080"/>
          </a:xfrm>
          <a:prstGeom prst="roundRect">
            <a:avLst/>
          </a:prstGeom>
          <a:solidFill>
            <a:srgbClr val="F7F8FA"/>
          </a:solidFill>
          <a:ln>
            <a:solidFill>
              <a:srgbClr val="D2D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D1002E-98B8-D2EB-F3D0-87552ECD65B1}"/>
              </a:ext>
            </a:extLst>
          </p:cNvPr>
          <p:cNvSpPr txBox="1"/>
          <p:nvPr/>
        </p:nvSpPr>
        <p:spPr>
          <a:xfrm>
            <a:off x="3410712" y="4297680"/>
            <a:ext cx="1682496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dirty="0">
                <a:solidFill>
                  <a:srgbClr val="1F2D3D"/>
                </a:solidFill>
                <a:latin typeface="Aptos"/>
              </a:rPr>
              <a:t>Orders</a:t>
            </a:r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41C39F33-1A61-AAE0-F84E-FC3F3B7C4D44}"/>
              </a:ext>
            </a:extLst>
          </p:cNvPr>
          <p:cNvSpPr/>
          <p:nvPr/>
        </p:nvSpPr>
        <p:spPr>
          <a:xfrm>
            <a:off x="5715000" y="4160520"/>
            <a:ext cx="2057400" cy="640080"/>
          </a:xfrm>
          <a:prstGeom prst="roundRect">
            <a:avLst/>
          </a:prstGeom>
          <a:solidFill>
            <a:srgbClr val="F7F8FA"/>
          </a:solidFill>
          <a:ln>
            <a:solidFill>
              <a:srgbClr val="D2D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0218AB-81AC-CAD5-FFF1-36259C8E0339}"/>
              </a:ext>
            </a:extLst>
          </p:cNvPr>
          <p:cNvSpPr txBox="1"/>
          <p:nvPr/>
        </p:nvSpPr>
        <p:spPr>
          <a:xfrm>
            <a:off x="5788152" y="4297680"/>
            <a:ext cx="1911095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F2D3D"/>
                </a:solidFill>
                <a:latin typeface="Aptos"/>
              </a:rPr>
              <a:t>Deliveries</a:t>
            </a:r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0913648E-6E34-3FF9-2BCA-3220FD47AB4E}"/>
              </a:ext>
            </a:extLst>
          </p:cNvPr>
          <p:cNvSpPr/>
          <p:nvPr/>
        </p:nvSpPr>
        <p:spPr>
          <a:xfrm>
            <a:off x="8458200" y="3794760"/>
            <a:ext cx="1554480" cy="548640"/>
          </a:xfrm>
          <a:prstGeom prst="roundRect">
            <a:avLst/>
          </a:prstGeom>
          <a:solidFill>
            <a:srgbClr val="F7F8FA"/>
          </a:solidFill>
          <a:ln>
            <a:solidFill>
              <a:srgbClr val="D2D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12FF1D-095C-0870-41F5-455566CAB01C}"/>
              </a:ext>
            </a:extLst>
          </p:cNvPr>
          <p:cNvSpPr txBox="1"/>
          <p:nvPr/>
        </p:nvSpPr>
        <p:spPr>
          <a:xfrm>
            <a:off x="8531352" y="3931920"/>
            <a:ext cx="1408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F2D3D"/>
                </a:solidFill>
                <a:latin typeface="Aptos"/>
              </a:rPr>
              <a:t>Drivers</a:t>
            </a:r>
          </a:p>
        </p:txBody>
      </p:sp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218BBC7F-73C2-2240-A39B-116FBB8F2838}"/>
              </a:ext>
            </a:extLst>
          </p:cNvPr>
          <p:cNvSpPr/>
          <p:nvPr/>
        </p:nvSpPr>
        <p:spPr>
          <a:xfrm>
            <a:off x="8458200" y="4617720"/>
            <a:ext cx="1554480" cy="548640"/>
          </a:xfrm>
          <a:prstGeom prst="roundRect">
            <a:avLst/>
          </a:prstGeom>
          <a:solidFill>
            <a:srgbClr val="F7F8FA"/>
          </a:solidFill>
          <a:ln>
            <a:solidFill>
              <a:srgbClr val="D2D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554D82-5203-3530-472C-19A4B11DCFF5}"/>
              </a:ext>
            </a:extLst>
          </p:cNvPr>
          <p:cNvSpPr txBox="1"/>
          <p:nvPr/>
        </p:nvSpPr>
        <p:spPr>
          <a:xfrm>
            <a:off x="8531352" y="4754880"/>
            <a:ext cx="1408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F2D3D"/>
                </a:solidFill>
                <a:latin typeface="Aptos"/>
              </a:rPr>
              <a:t>Vehicles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3BC69C-C60E-E847-3310-7CCF94A3C4BB}"/>
              </a:ext>
            </a:extLst>
          </p:cNvPr>
          <p:cNvSpPr txBox="1"/>
          <p:nvPr/>
        </p:nvSpPr>
        <p:spPr>
          <a:xfrm>
            <a:off x="2834640" y="427939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C23E3E"/>
                </a:solidFill>
                <a:latin typeface="Aptos"/>
              </a:rPr>
              <a:t>→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73F824-FD7C-1385-E047-A7AEE0C027B2}"/>
              </a:ext>
            </a:extLst>
          </p:cNvPr>
          <p:cNvSpPr txBox="1"/>
          <p:nvPr/>
        </p:nvSpPr>
        <p:spPr>
          <a:xfrm>
            <a:off x="5303520" y="427939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C23E3E"/>
                </a:solidFill>
                <a:latin typeface="Aptos"/>
              </a:rPr>
              <a:t>→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232DAE-B81E-43E4-8BFD-E43178E8F75A}"/>
              </a:ext>
            </a:extLst>
          </p:cNvPr>
          <p:cNvSpPr txBox="1"/>
          <p:nvPr/>
        </p:nvSpPr>
        <p:spPr>
          <a:xfrm>
            <a:off x="7818120" y="4114800"/>
            <a:ext cx="548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C23E3E"/>
                </a:solidFill>
                <a:latin typeface="Aptos"/>
              </a:rPr>
              <a:t>↘
↗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3A7684-BA0C-B243-88E8-C85BB7039660}"/>
              </a:ext>
            </a:extLst>
          </p:cNvPr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767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1196465" y="1503371"/>
            <a:ext cx="1116002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58797" y="414083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Business Objectives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0887F82-96A8-82D6-89BB-496FD329D108}"/>
              </a:ext>
            </a:extLst>
          </p:cNvPr>
          <p:cNvSpPr/>
          <p:nvPr/>
        </p:nvSpPr>
        <p:spPr>
          <a:xfrm>
            <a:off x="822960" y="1417320"/>
            <a:ext cx="438912" cy="438912"/>
          </a:xfrm>
          <a:prstGeom prst="ellipse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BB1F6D-21C1-6D0B-89A4-72E3B6AF28C9}"/>
              </a:ext>
            </a:extLst>
          </p:cNvPr>
          <p:cNvSpPr txBox="1"/>
          <p:nvPr/>
        </p:nvSpPr>
        <p:spPr>
          <a:xfrm>
            <a:off x="822960" y="1481328"/>
            <a:ext cx="438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0913109-212B-33FB-889B-A01D082347FC}"/>
              </a:ext>
            </a:extLst>
          </p:cNvPr>
          <p:cNvSpPr txBox="1"/>
          <p:nvPr/>
        </p:nvSpPr>
        <p:spPr>
          <a:xfrm>
            <a:off x="1389374" y="1470765"/>
            <a:ext cx="36446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Delivery Demand</a:t>
            </a:r>
            <a:endParaRPr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93148BA-5D01-A64D-E826-E760969A7BB9}"/>
              </a:ext>
            </a:extLst>
          </p:cNvPr>
          <p:cNvSpPr txBox="1"/>
          <p:nvPr/>
        </p:nvSpPr>
        <p:spPr>
          <a:xfrm>
            <a:off x="5605228" y="1472695"/>
            <a:ext cx="535435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order volume and identify demand trends.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A49CC856-7EF2-7EEB-80A9-02577BED9881}"/>
              </a:ext>
            </a:extLst>
          </p:cNvPr>
          <p:cNvSpPr/>
          <p:nvPr/>
        </p:nvSpPr>
        <p:spPr>
          <a:xfrm>
            <a:off x="822960" y="2286000"/>
            <a:ext cx="438912" cy="438912"/>
          </a:xfrm>
          <a:prstGeom prst="ellipse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D69F288-44FE-A712-A439-29321765D329}"/>
              </a:ext>
            </a:extLst>
          </p:cNvPr>
          <p:cNvSpPr txBox="1"/>
          <p:nvPr/>
        </p:nvSpPr>
        <p:spPr>
          <a:xfrm>
            <a:off x="888367" y="2350008"/>
            <a:ext cx="3080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52A94CE-2181-9057-AF5B-E942D85EE2C4}"/>
              </a:ext>
            </a:extLst>
          </p:cNvPr>
          <p:cNvSpPr txBox="1"/>
          <p:nvPr/>
        </p:nvSpPr>
        <p:spPr>
          <a:xfrm>
            <a:off x="1417320" y="2267713"/>
            <a:ext cx="3930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 Customer Order Behaviour</a:t>
            </a:r>
            <a:endParaRPr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4D175B9-60E9-6981-9BF0-C3BF7FEA111B}"/>
              </a:ext>
            </a:extLst>
          </p:cNvPr>
          <p:cNvSpPr txBox="1"/>
          <p:nvPr/>
        </p:nvSpPr>
        <p:spPr>
          <a:xfrm>
            <a:off x="5823518" y="2267713"/>
            <a:ext cx="504336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Look at repeat activity and higher-value customers</a:t>
            </a:r>
            <a:r>
              <a:rPr dirty="0"/>
              <a:t>.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A0DA96BC-573A-FBF9-39C5-2ED90780DCE9}"/>
              </a:ext>
            </a:extLst>
          </p:cNvPr>
          <p:cNvSpPr/>
          <p:nvPr/>
        </p:nvSpPr>
        <p:spPr>
          <a:xfrm>
            <a:off x="822960" y="3154680"/>
            <a:ext cx="438912" cy="438912"/>
          </a:xfrm>
          <a:prstGeom prst="ellipse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6D5D6E1-2CB2-8B23-3ABB-7B09FF915810}"/>
              </a:ext>
            </a:extLst>
          </p:cNvPr>
          <p:cNvSpPr txBox="1"/>
          <p:nvPr/>
        </p:nvSpPr>
        <p:spPr>
          <a:xfrm>
            <a:off x="888367" y="3218688"/>
            <a:ext cx="3080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C7E11F0-49E9-AD1F-8507-3932B71116D3}"/>
              </a:ext>
            </a:extLst>
          </p:cNvPr>
          <p:cNvSpPr txBox="1"/>
          <p:nvPr/>
        </p:nvSpPr>
        <p:spPr>
          <a:xfrm>
            <a:off x="1417320" y="3136392"/>
            <a:ext cx="313900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Delivery Performance</a:t>
            </a:r>
            <a:endParaRPr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66D2B01-D351-4C9E-231B-E08834A68420}"/>
              </a:ext>
            </a:extLst>
          </p:cNvPr>
          <p:cNvSpPr txBox="1"/>
          <p:nvPr/>
        </p:nvSpPr>
        <p:spPr>
          <a:xfrm>
            <a:off x="5823518" y="3120259"/>
            <a:ext cx="510107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outcomes across zones and service types.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879F6021-EFEB-6BF9-EE78-E50A0CAFA2CC}"/>
              </a:ext>
            </a:extLst>
          </p:cNvPr>
          <p:cNvSpPr/>
          <p:nvPr/>
        </p:nvSpPr>
        <p:spPr>
          <a:xfrm>
            <a:off x="822960" y="4023360"/>
            <a:ext cx="438912" cy="438912"/>
          </a:xfrm>
          <a:prstGeom prst="ellipse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DFDC9ED-050D-AC2B-C5BA-061556B92C36}"/>
              </a:ext>
            </a:extLst>
          </p:cNvPr>
          <p:cNvSpPr txBox="1"/>
          <p:nvPr/>
        </p:nvSpPr>
        <p:spPr>
          <a:xfrm>
            <a:off x="888367" y="4087368"/>
            <a:ext cx="3080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DDD73B4-36B8-8818-5427-FBCAA92295F1}"/>
              </a:ext>
            </a:extLst>
          </p:cNvPr>
          <p:cNvSpPr txBox="1"/>
          <p:nvPr/>
        </p:nvSpPr>
        <p:spPr>
          <a:xfrm>
            <a:off x="1417320" y="4005072"/>
            <a:ext cx="420980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Driver &amp; Vehicle Performance</a:t>
            </a:r>
            <a:endParaRPr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72025F5-F482-72FC-6EE4-14BBB41BE7FB}"/>
              </a:ext>
            </a:extLst>
          </p:cNvPr>
          <p:cNvSpPr txBox="1"/>
          <p:nvPr/>
        </p:nvSpPr>
        <p:spPr>
          <a:xfrm>
            <a:off x="5832794" y="4005072"/>
            <a:ext cx="546816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 the role of drivers and vehicles in delivery work.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7166CFB4-7AC0-4E62-A3C5-6C74136BB2FF}"/>
              </a:ext>
            </a:extLst>
          </p:cNvPr>
          <p:cNvSpPr/>
          <p:nvPr/>
        </p:nvSpPr>
        <p:spPr>
          <a:xfrm>
            <a:off x="822960" y="4892040"/>
            <a:ext cx="438912" cy="438912"/>
          </a:xfrm>
          <a:prstGeom prst="ellipse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E8889A8-8669-D0BE-1608-3D76FC5460B7}"/>
              </a:ext>
            </a:extLst>
          </p:cNvPr>
          <p:cNvSpPr txBox="1"/>
          <p:nvPr/>
        </p:nvSpPr>
        <p:spPr>
          <a:xfrm>
            <a:off x="888367" y="4956048"/>
            <a:ext cx="3080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C6C6E5D-933A-3F7C-B84E-63C724B0AD46}"/>
              </a:ext>
            </a:extLst>
          </p:cNvPr>
          <p:cNvSpPr txBox="1"/>
          <p:nvPr/>
        </p:nvSpPr>
        <p:spPr>
          <a:xfrm>
            <a:off x="1417320" y="4873752"/>
            <a:ext cx="272382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Delivery Problems</a:t>
            </a:r>
            <a:endParaRPr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332F6EE-90E1-A734-A47B-73FA3FB9AB4F}"/>
              </a:ext>
            </a:extLst>
          </p:cNvPr>
          <p:cNvSpPr txBox="1"/>
          <p:nvPr/>
        </p:nvSpPr>
        <p:spPr>
          <a:xfrm>
            <a:off x="5910333" y="4889885"/>
            <a:ext cx="5869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Look at failed, pending, rescheduled and repeated attempts.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F514E34-7002-9B8C-9F02-BB3D1BF72C17}"/>
              </a:ext>
            </a:extLst>
          </p:cNvPr>
          <p:cNvSpPr/>
          <p:nvPr/>
        </p:nvSpPr>
        <p:spPr>
          <a:xfrm>
            <a:off x="458797" y="1060668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427656" y="416554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Dataset &amp; Database Overview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A9D6AB6-33E4-F35C-26B5-98F32BD0E1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450572"/>
              </p:ext>
            </p:extLst>
          </p:nvPr>
        </p:nvGraphicFramePr>
        <p:xfrm>
          <a:off x="606056" y="1755359"/>
          <a:ext cx="7027057" cy="3654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401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Table</a:t>
                      </a:r>
                    </a:p>
                  </a:txBody>
                  <a:tcPr marL="54864" marR="36576" marT="27432" marB="27432"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Purpose</a:t>
                      </a:r>
                    </a:p>
                  </a:txBody>
                  <a:tcPr marL="54864" marR="36576" marT="27432" marB="27432"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Records</a:t>
                      </a:r>
                    </a:p>
                  </a:txBody>
                  <a:tcPr marL="54864" marR="36576" marT="27432" marB="27432">
                    <a:solidFill>
                      <a:srgbClr val="1F2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 details and customer type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400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Orders</a:t>
                      </a:r>
                    </a:p>
                  </a:txBody>
                  <a:tcPr marL="54864" marR="36576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Order info, service type, priority, value</a:t>
                      </a:r>
                    </a:p>
                  </a:txBody>
                  <a:tcPr marL="54864" marR="36576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3,000</a:t>
                      </a:r>
                    </a:p>
                  </a:txBody>
                  <a:tcPr marL="54864" marR="36576" marT="27432" marB="27432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Deliveries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Delivery status, attempts, distance, duration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3,500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Drivers</a:t>
                      </a:r>
                    </a:p>
                  </a:txBody>
                  <a:tcPr marL="54864" marR="36576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Driver details, rating and active status</a:t>
                      </a:r>
                    </a:p>
                  </a:txBody>
                  <a:tcPr marL="54864" marR="36576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</a:t>
                      </a:r>
                    </a:p>
                  </a:txBody>
                  <a:tcPr marL="54864" marR="36576" marT="27432" marB="27432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Vehicles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Vehicle type, fuel type, capacity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50</a:t>
                      </a:r>
                    </a:p>
                  </a:txBody>
                  <a:tcPr marL="54864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61BB4F3C-E491-8F6F-45CD-242581B17A2B}"/>
              </a:ext>
            </a:extLst>
          </p:cNvPr>
          <p:cNvSpPr/>
          <p:nvPr/>
        </p:nvSpPr>
        <p:spPr>
          <a:xfrm>
            <a:off x="8112642" y="1755360"/>
            <a:ext cx="3221665" cy="1540733"/>
          </a:xfrm>
          <a:prstGeom prst="rect">
            <a:avLst/>
          </a:prstGeom>
          <a:solidFill>
            <a:srgbClr val="FCF9F9"/>
          </a:solidFill>
          <a:ln>
            <a:solidFill>
              <a:srgbClr val="E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23E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Observation</a:t>
            </a:r>
          </a:p>
          <a:p>
            <a:pPr>
              <a:spcBef>
                <a:spcPts val="400"/>
              </a:spcBef>
              <a:defRPr sz="1200">
                <a:solidFill>
                  <a:srgbClr val="232323"/>
                </a:solidFill>
                <a:latin typeface="Aptos"/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3,500 deliveries are recorded for 3,000 orders, so some orders have more than one delivery record.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657E32-C5F8-915F-23AE-274F83C26181}"/>
              </a:ext>
            </a:extLst>
          </p:cNvPr>
          <p:cNvSpPr/>
          <p:nvPr/>
        </p:nvSpPr>
        <p:spPr>
          <a:xfrm>
            <a:off x="8112641" y="3720180"/>
            <a:ext cx="3221665" cy="1309020"/>
          </a:xfrm>
          <a:prstGeom prst="rect">
            <a:avLst/>
          </a:prstGeom>
          <a:solidFill>
            <a:srgbClr val="F9FAFC"/>
          </a:solidFill>
          <a:ln>
            <a:solidFill>
              <a:srgbClr val="E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23E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</a:t>
            </a:r>
          </a:p>
          <a:p>
            <a:pPr>
              <a:spcBef>
                <a:spcPts val="400"/>
              </a:spcBef>
              <a:defRPr sz="1200">
                <a:solidFill>
                  <a:srgbClr val="232323"/>
                </a:solidFill>
                <a:latin typeface="Aptos"/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five tables are connected through IDs (keys).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64DDA0-E42E-2A97-5BBC-D5927B2E30B8}"/>
              </a:ext>
            </a:extLst>
          </p:cNvPr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767E"/>
                </a:solidFill>
                <a:latin typeface="Aptos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09C2A5-3781-B169-0507-8362EE3A466C}"/>
              </a:ext>
            </a:extLst>
          </p:cNvPr>
          <p:cNvSpPr/>
          <p:nvPr/>
        </p:nvSpPr>
        <p:spPr>
          <a:xfrm>
            <a:off x="458797" y="1060668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552893" y="1361062"/>
            <a:ext cx="3484919" cy="326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Relationships</a:t>
            </a:r>
          </a:p>
          <a:p>
            <a:pPr>
              <a:spcAft>
                <a:spcPts val="8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Customers → Orders</a:t>
            </a:r>
          </a:p>
          <a:p>
            <a:pPr>
              <a:spcAft>
                <a:spcPts val="8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Orders → Deliveries</a:t>
            </a:r>
          </a:p>
          <a:p>
            <a:pPr>
              <a:spcAft>
                <a:spcPts val="8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Drivers → Deliveries</a:t>
            </a:r>
          </a:p>
          <a:p>
            <a:pPr>
              <a:spcAft>
                <a:spcPts val="8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Vehicles → Deliveries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None/>
            </a:pP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IN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Primary Keys</a:t>
            </a:r>
            <a:endParaRPr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8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order_id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8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delivery_id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driver_id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vehicle_id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1027933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ER Diagram &amp; Database Structure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ER Diagram"/>
          <p:cNvPicPr preferRelativeResize="0"/>
          <p:nvPr/>
        </p:nvPicPr>
        <p:blipFill rotWithShape="1">
          <a:blip r:embed="rId2"/>
          <a:srcRect/>
          <a:stretch/>
        </p:blipFill>
        <p:spPr>
          <a:xfrm>
            <a:off x="4333744" y="1250539"/>
            <a:ext cx="6948997" cy="454679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C52168E-39A6-AAE3-F0AA-5EEFB1EEBC6F}"/>
              </a:ext>
            </a:extLst>
          </p:cNvPr>
          <p:cNvSpPr/>
          <p:nvPr/>
        </p:nvSpPr>
        <p:spPr>
          <a:xfrm>
            <a:off x="458797" y="1060668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353228" y="492982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28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Basic Analysis</a:t>
            </a: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: </a:t>
            </a: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SQL Check</a:t>
            </a:r>
            <a:endParaRPr sz="32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134D98-E160-45E2-4316-1CED8822A640}"/>
              </a:ext>
            </a:extLst>
          </p:cNvPr>
          <p:cNvSpPr/>
          <p:nvPr/>
        </p:nvSpPr>
        <p:spPr>
          <a:xfrm>
            <a:off x="458797" y="1060668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D521F5-4A83-5700-33BC-76FE142F6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97" y="1386626"/>
            <a:ext cx="4486901" cy="5334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EEA132-C5F4-14DA-A715-973673C16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23331"/>
            <a:ext cx="1437601" cy="9677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562836-550F-3D2E-F0FB-A0452A5A41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97" y="2346851"/>
            <a:ext cx="3953427" cy="5048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A318A7-1ACC-6ED1-17D4-6F75E0D016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8394" y="2159848"/>
            <a:ext cx="1524213" cy="7906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3725F1C-5CB3-630D-1161-BF90B277D9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821" y="3262548"/>
            <a:ext cx="4544059" cy="4953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D39709-2061-4916-0D47-D1CCC43154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3065863"/>
            <a:ext cx="1629002" cy="5525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DF5A0DC-D0D0-556E-A88D-39B27C95FA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228" y="4357816"/>
            <a:ext cx="3734321" cy="5144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E10A106-4310-2DF9-5C23-476222E63A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8394" y="3782042"/>
            <a:ext cx="1381318" cy="134321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FEE80C7-0F82-3E1A-CF06-B639202CEE5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228" y="5316681"/>
            <a:ext cx="6106377" cy="50489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5D84FB1-39E6-03FB-8A42-FB54DFCF531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8448" y="5344457"/>
            <a:ext cx="1419423" cy="50489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21871E5-4656-E436-D979-813AE52F2750}"/>
              </a:ext>
            </a:extLst>
          </p:cNvPr>
          <p:cNvSpPr txBox="1"/>
          <p:nvPr/>
        </p:nvSpPr>
        <p:spPr>
          <a:xfrm>
            <a:off x="7872754" y="2818739"/>
            <a:ext cx="37213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b="1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Key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repeat customer activity </a:t>
            </a:r>
            <a:endParaRPr lang="en-IN" sz="16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 volume exceeds order volume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service options support varied customer needs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 capacity is crucial for operations 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4B6CDB-96C2-09B8-649C-69982924FEB5}"/>
              </a:ext>
            </a:extLst>
          </p:cNvPr>
          <p:cNvSpPr txBox="1"/>
          <p:nvPr/>
        </p:nvSpPr>
        <p:spPr>
          <a:xfrm>
            <a:off x="7872754" y="1653363"/>
            <a:ext cx="3168502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2">
                    <a:lumMod val="1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Key Findings: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400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customers and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3,000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orders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3,500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delivery records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service types available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75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active drivers 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256779" y="374087"/>
            <a:ext cx="900342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28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Analysis of the Objectives</a:t>
            </a:r>
            <a:r>
              <a:rPr lang="en-IN" sz="18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:  </a:t>
            </a: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Delivery demand</a:t>
            </a: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E61C64-FABD-323E-0B6A-EE393AD794C3}"/>
              </a:ext>
            </a:extLst>
          </p:cNvPr>
          <p:cNvSpPr/>
          <p:nvPr/>
        </p:nvSpPr>
        <p:spPr>
          <a:xfrm>
            <a:off x="256779" y="972913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03D843-8381-0B11-9459-551ECD173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3" y="1574643"/>
            <a:ext cx="3980080" cy="11242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F375E2-FA8B-FE61-95E4-E16EF090E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907" y="1205312"/>
            <a:ext cx="1654468" cy="182496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14B1402-251B-35E7-3A72-09FD91BD2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315" y="3429000"/>
            <a:ext cx="1975213" cy="123869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8766295-E98D-9E97-6A2B-A2DFA2649E34}"/>
              </a:ext>
            </a:extLst>
          </p:cNvPr>
          <p:cNvSpPr txBox="1"/>
          <p:nvPr/>
        </p:nvSpPr>
        <p:spPr>
          <a:xfrm>
            <a:off x="256779" y="1205311"/>
            <a:ext cx="2544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 By Zone: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2505C1-B037-97F5-EAE3-39F5AD728113}"/>
              </a:ext>
            </a:extLst>
          </p:cNvPr>
          <p:cNvSpPr txBox="1"/>
          <p:nvPr/>
        </p:nvSpPr>
        <p:spPr>
          <a:xfrm>
            <a:off x="256779" y="3205676"/>
            <a:ext cx="3055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 by Service Type: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F4F424-A0AB-F70B-950E-2C2DFBD3C4B3}"/>
              </a:ext>
            </a:extLst>
          </p:cNvPr>
          <p:cNvSpPr txBox="1"/>
          <p:nvPr/>
        </p:nvSpPr>
        <p:spPr>
          <a:xfrm>
            <a:off x="256779" y="4804457"/>
            <a:ext cx="2927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 by Priority: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90A5BD7-009A-102D-B2F3-5E57C73772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9315" y="5135684"/>
            <a:ext cx="1886213" cy="93358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8D008CE-9444-83D8-8818-5D642C77A2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963" y="5241587"/>
            <a:ext cx="3448531" cy="89547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1990340-1486-DB01-307F-CA64D325EE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963" y="3564401"/>
            <a:ext cx="3732625" cy="89547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23A6FA5-7D7B-CD97-9593-594A435977EB}"/>
              </a:ext>
            </a:extLst>
          </p:cNvPr>
          <p:cNvSpPr txBox="1"/>
          <p:nvPr/>
        </p:nvSpPr>
        <p:spPr>
          <a:xfrm>
            <a:off x="7143441" y="1680759"/>
            <a:ext cx="40861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2">
                    <a:lumMod val="1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Key Findings: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ZONE0005 generated the highest demand —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240 orders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service recorded the highest volume —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620 orders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High-priority orders led demand —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1,035 orders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1B23FA-D5FF-8286-57CB-E8DE298AF9F4}"/>
              </a:ext>
            </a:extLst>
          </p:cNvPr>
          <p:cNvSpPr txBox="1"/>
          <p:nvPr/>
        </p:nvSpPr>
        <p:spPr>
          <a:xfrm>
            <a:off x="7143441" y="3849317"/>
            <a:ext cx="39994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Key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Demand is concentrated in specific zones, while Standard service and High priority dominate order volume.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161086" y="415881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  Customer Order Behaviour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0BF1E3-3829-C84D-7840-3F30619CDDDE}"/>
              </a:ext>
            </a:extLst>
          </p:cNvPr>
          <p:cNvSpPr/>
          <p:nvPr/>
        </p:nvSpPr>
        <p:spPr>
          <a:xfrm>
            <a:off x="267412" y="964973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CA976D-2D0C-E4D9-73C4-DBA2E4B14D5C}"/>
              </a:ext>
            </a:extLst>
          </p:cNvPr>
          <p:cNvSpPr txBox="1"/>
          <p:nvPr/>
        </p:nvSpPr>
        <p:spPr>
          <a:xfrm>
            <a:off x="267412" y="1185718"/>
            <a:ext cx="3868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Customers by Orders: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2E5BFA-30B7-34C4-89FC-AB2E0FA84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9" y="1579861"/>
            <a:ext cx="5963482" cy="12003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3DEC54-FDAC-BBC1-ED93-C45985FAA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488" y="1441729"/>
            <a:ext cx="3686689" cy="14765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EA985A-260D-23F2-46EC-2A28C03933F1}"/>
              </a:ext>
            </a:extLst>
          </p:cNvPr>
          <p:cNvSpPr txBox="1"/>
          <p:nvPr/>
        </p:nvSpPr>
        <p:spPr>
          <a:xfrm>
            <a:off x="267412" y="3059668"/>
            <a:ext cx="376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Customers by Order Value: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B09D665-3997-B8A7-4BFB-B15F5AA5E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649" y="3501194"/>
            <a:ext cx="8087854" cy="9716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C610075-466D-D0DA-298F-3C3531CB68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6488" y="3712552"/>
            <a:ext cx="4127929" cy="127920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90DA23A-13FC-2B97-03B5-42ABA50362FB}"/>
              </a:ext>
            </a:extLst>
          </p:cNvPr>
          <p:cNvSpPr txBox="1"/>
          <p:nvPr/>
        </p:nvSpPr>
        <p:spPr>
          <a:xfrm>
            <a:off x="267412" y="4684238"/>
            <a:ext cx="99398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Findings: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Eric Davis placed the most orders —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Eric Davis generated the highest order value —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$43,779.25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0"/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Insight: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Individual customers drive order volume, while Business customers generate higher average order value.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925032" y="1799133"/>
            <a:ext cx="7117892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3,500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total deliveries were recorded.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73.7%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deliveries were successfully completed.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26.3%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were Pending, Rescheduled, or Failed.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delivery duration was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47.2 minutes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ZONE0020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recorded the highest problem rate at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31.7%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</p:txBody>
      </p:sp>
      <p:sp>
        <p:nvSpPr>
          <p:cNvPr id="105" name="Google Shape;105;p3"/>
          <p:cNvSpPr txBox="1"/>
          <p:nvPr/>
        </p:nvSpPr>
        <p:spPr>
          <a:xfrm>
            <a:off x="321330" y="418672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Delivery Performance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E02FD8-B3E1-7438-D3C3-64178C52C0BD}"/>
              </a:ext>
            </a:extLst>
          </p:cNvPr>
          <p:cNvSpPr/>
          <p:nvPr/>
        </p:nvSpPr>
        <p:spPr>
          <a:xfrm>
            <a:off x="235513" y="964975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A2C8EE-DEF0-6DDC-2603-24F0939AC33E}"/>
              </a:ext>
            </a:extLst>
          </p:cNvPr>
          <p:cNvSpPr txBox="1"/>
          <p:nvPr/>
        </p:nvSpPr>
        <p:spPr>
          <a:xfrm>
            <a:off x="925032" y="4116776"/>
            <a:ext cx="888881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delivery performance is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strong, but improvement is needed for the remaining 26.3%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Pending and Rescheduled deliveries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represent additional operational workload.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 problems are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concentrated in specific zones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rather than evenly distributed.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Reducing delays and failures in high-problem zones can improve overall operational efficiency.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6B4FC-27CC-6CA8-3865-9BC1341A69B5}"/>
              </a:ext>
            </a:extLst>
          </p:cNvPr>
          <p:cNvSpPr txBox="1"/>
          <p:nvPr/>
        </p:nvSpPr>
        <p:spPr>
          <a:xfrm>
            <a:off x="595423" y="1354335"/>
            <a:ext cx="2360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Findings: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E7C00B-8070-87F6-963A-0F6DBA26E80C}"/>
              </a:ext>
            </a:extLst>
          </p:cNvPr>
          <p:cNvSpPr txBox="1"/>
          <p:nvPr/>
        </p:nvSpPr>
        <p:spPr>
          <a:xfrm>
            <a:off x="595423" y="3724631"/>
            <a:ext cx="26156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</a:p>
          <a:p>
            <a:endParaRPr lang="en-IN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353227" y="356854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Driver &amp; Vehicle Performance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B8385F-9DA2-0099-D703-5FBE9BDCB7A6}"/>
              </a:ext>
            </a:extLst>
          </p:cNvPr>
          <p:cNvSpPr/>
          <p:nvPr/>
        </p:nvSpPr>
        <p:spPr>
          <a:xfrm>
            <a:off x="214248" y="986240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C563C810-BDCF-279A-EEDD-B3B65BD85F6C}"/>
              </a:ext>
            </a:extLst>
          </p:cNvPr>
          <p:cNvSpPr/>
          <p:nvPr/>
        </p:nvSpPr>
        <p:spPr>
          <a:xfrm>
            <a:off x="461882" y="1508760"/>
            <a:ext cx="2029222" cy="1189922"/>
          </a:xfrm>
          <a:prstGeom prst="roundRect">
            <a:avLst/>
          </a:prstGeom>
          <a:solidFill>
            <a:srgbClr val="F6F7F9"/>
          </a:solidFill>
          <a:ln>
            <a:solidFill>
              <a:srgbClr val="D7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33087D-AA0B-F691-2DEF-439ECAEFE279}"/>
              </a:ext>
            </a:extLst>
          </p:cNvPr>
          <p:cNvSpPr txBox="1"/>
          <p:nvPr/>
        </p:nvSpPr>
        <p:spPr>
          <a:xfrm>
            <a:off x="534551" y="1610973"/>
            <a:ext cx="227685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WORKLOAD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BE6E0C-4B6B-3597-ED8B-77DABC9CB8D4}"/>
              </a:ext>
            </a:extLst>
          </p:cNvPr>
          <p:cNvSpPr txBox="1"/>
          <p:nvPr/>
        </p:nvSpPr>
        <p:spPr>
          <a:xfrm>
            <a:off x="214248" y="1918750"/>
            <a:ext cx="227685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1E1E1E"/>
                </a:solidFill>
                <a:latin typeface="Aptos"/>
              </a:rPr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1A9BA9-A481-AF5B-1CE4-2D803C2841C7}"/>
              </a:ext>
            </a:extLst>
          </p:cNvPr>
          <p:cNvSpPr txBox="1"/>
          <p:nvPr/>
        </p:nvSpPr>
        <p:spPr>
          <a:xfrm>
            <a:off x="0" y="2357662"/>
            <a:ext cx="2690357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DRV00073</a:t>
            </a:r>
          </a:p>
        </p:txBody>
      </p:sp>
      <p:sp>
        <p:nvSpPr>
          <p:cNvPr id="22" name="Rounded Rectangle 8">
            <a:extLst>
              <a:ext uri="{FF2B5EF4-FFF2-40B4-BE49-F238E27FC236}">
                <a16:creationId xmlns:a16="http://schemas.microsoft.com/office/drawing/2014/main" id="{811B88E0-1FB2-763F-9CB7-822CF1C2A094}"/>
              </a:ext>
            </a:extLst>
          </p:cNvPr>
          <p:cNvSpPr/>
          <p:nvPr/>
        </p:nvSpPr>
        <p:spPr>
          <a:xfrm>
            <a:off x="2930651" y="1510887"/>
            <a:ext cx="2276856" cy="1189922"/>
          </a:xfrm>
          <a:prstGeom prst="roundRect">
            <a:avLst/>
          </a:prstGeom>
          <a:solidFill>
            <a:srgbClr val="F6F7F9"/>
          </a:solidFill>
          <a:ln>
            <a:solidFill>
              <a:srgbClr val="D7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8EF2E5-3CB4-9D75-21C4-CBBA661BFB1B}"/>
              </a:ext>
            </a:extLst>
          </p:cNvPr>
          <p:cNvSpPr txBox="1"/>
          <p:nvPr/>
        </p:nvSpPr>
        <p:spPr>
          <a:xfrm>
            <a:off x="3211393" y="1616142"/>
            <a:ext cx="227685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 SUCCESS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6B6F38-C1AC-CC59-9283-BB66EEAE718A}"/>
              </a:ext>
            </a:extLst>
          </p:cNvPr>
          <p:cNvSpPr txBox="1"/>
          <p:nvPr/>
        </p:nvSpPr>
        <p:spPr>
          <a:xfrm>
            <a:off x="3188197" y="1927903"/>
            <a:ext cx="155390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1E1E1E"/>
                </a:solidFill>
                <a:latin typeface="Aptos"/>
              </a:rPr>
              <a:t>86.5%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B2DA2A-1597-5AC0-A3B7-71975ABC7406}"/>
              </a:ext>
            </a:extLst>
          </p:cNvPr>
          <p:cNvSpPr txBox="1"/>
          <p:nvPr/>
        </p:nvSpPr>
        <p:spPr>
          <a:xfrm>
            <a:off x="2799941" y="2386825"/>
            <a:ext cx="22768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DRV00027</a:t>
            </a:r>
            <a:r>
              <a:rPr b="0" dirty="0">
                <a:solidFill>
                  <a:srgbClr val="1E1E1E"/>
                </a:solidFill>
                <a:latin typeface="Aptos"/>
              </a:rPr>
              <a:t>*</a:t>
            </a:r>
          </a:p>
        </p:txBody>
      </p:sp>
      <p:sp>
        <p:nvSpPr>
          <p:cNvPr id="30" name="Rounded Rectangle 12">
            <a:extLst>
              <a:ext uri="{FF2B5EF4-FFF2-40B4-BE49-F238E27FC236}">
                <a16:creationId xmlns:a16="http://schemas.microsoft.com/office/drawing/2014/main" id="{07CAFDB9-F086-76D2-C4DD-9A5EB333C2B7}"/>
              </a:ext>
            </a:extLst>
          </p:cNvPr>
          <p:cNvSpPr/>
          <p:nvPr/>
        </p:nvSpPr>
        <p:spPr>
          <a:xfrm>
            <a:off x="5733521" y="1494393"/>
            <a:ext cx="2188085" cy="1204289"/>
          </a:xfrm>
          <a:prstGeom prst="roundRect">
            <a:avLst/>
          </a:prstGeom>
          <a:solidFill>
            <a:srgbClr val="F6F7F9"/>
          </a:solidFill>
          <a:ln>
            <a:solidFill>
              <a:srgbClr val="D7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4738BD-4B06-8B2B-5A94-7BBBF792F1AD}"/>
              </a:ext>
            </a:extLst>
          </p:cNvPr>
          <p:cNvSpPr txBox="1"/>
          <p:nvPr/>
        </p:nvSpPr>
        <p:spPr>
          <a:xfrm>
            <a:off x="6162184" y="1601010"/>
            <a:ext cx="227685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VEHICLE USAGE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E8C520-1D8E-74CF-BC44-C03C7EFA46B6}"/>
              </a:ext>
            </a:extLst>
          </p:cNvPr>
          <p:cNvSpPr txBox="1"/>
          <p:nvPr/>
        </p:nvSpPr>
        <p:spPr>
          <a:xfrm>
            <a:off x="5928361" y="1886577"/>
            <a:ext cx="1769611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717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AB1969-81FB-2115-6AB1-C2E2D74148FB}"/>
              </a:ext>
            </a:extLst>
          </p:cNvPr>
          <p:cNvSpPr txBox="1"/>
          <p:nvPr/>
        </p:nvSpPr>
        <p:spPr>
          <a:xfrm>
            <a:off x="5644750" y="2368311"/>
            <a:ext cx="227685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Cargo</a:t>
            </a:r>
            <a:r>
              <a:rPr sz="1600" b="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Bike</a:t>
            </a:r>
          </a:p>
        </p:txBody>
      </p:sp>
      <p:sp>
        <p:nvSpPr>
          <p:cNvPr id="38" name="Rounded Rectangle 16">
            <a:extLst>
              <a:ext uri="{FF2B5EF4-FFF2-40B4-BE49-F238E27FC236}">
                <a16:creationId xmlns:a16="http://schemas.microsoft.com/office/drawing/2014/main" id="{BB6E29B4-CD31-8BC5-08D6-8D9DF78CF869}"/>
              </a:ext>
            </a:extLst>
          </p:cNvPr>
          <p:cNvSpPr/>
          <p:nvPr/>
        </p:nvSpPr>
        <p:spPr>
          <a:xfrm>
            <a:off x="8489559" y="1472678"/>
            <a:ext cx="2240447" cy="1247718"/>
          </a:xfrm>
          <a:prstGeom prst="roundRect">
            <a:avLst/>
          </a:prstGeom>
          <a:solidFill>
            <a:srgbClr val="F6F7F9"/>
          </a:solidFill>
          <a:ln>
            <a:solidFill>
              <a:srgbClr val="D7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026274-6FF0-8DA0-EE25-934981E632F7}"/>
              </a:ext>
            </a:extLst>
          </p:cNvPr>
          <p:cNvSpPr txBox="1"/>
          <p:nvPr/>
        </p:nvSpPr>
        <p:spPr>
          <a:xfrm>
            <a:off x="9107036" y="1606467"/>
            <a:ext cx="227685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VEHICLE SUCCESS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B02C4D-9DDD-5A95-FF9C-C6A546BF8897}"/>
              </a:ext>
            </a:extLst>
          </p:cNvPr>
          <p:cNvSpPr txBox="1"/>
          <p:nvPr/>
        </p:nvSpPr>
        <p:spPr>
          <a:xfrm>
            <a:off x="8773038" y="1908795"/>
            <a:ext cx="227685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75.0%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70AD71-1A7C-D935-ED09-1FCA8A325EFF}"/>
              </a:ext>
            </a:extLst>
          </p:cNvPr>
          <p:cNvSpPr txBox="1"/>
          <p:nvPr/>
        </p:nvSpPr>
        <p:spPr>
          <a:xfrm>
            <a:off x="8726186" y="2428559"/>
            <a:ext cx="227685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Electric Van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460161F-58EF-9D1C-CC34-0457232258D1}"/>
              </a:ext>
            </a:extLst>
          </p:cNvPr>
          <p:cNvSpPr txBox="1"/>
          <p:nvPr/>
        </p:nvSpPr>
        <p:spPr>
          <a:xfrm>
            <a:off x="640080" y="3429000"/>
            <a:ext cx="2743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298BAC-FD67-2B57-1D57-CD957D4DE4A3}"/>
              </a:ext>
            </a:extLst>
          </p:cNvPr>
          <p:cNvSpPr txBox="1"/>
          <p:nvPr/>
        </p:nvSpPr>
        <p:spPr>
          <a:xfrm>
            <a:off x="658368" y="3794760"/>
            <a:ext cx="521208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Driver workload varies across the fleet.</a:t>
            </a:r>
            <a:b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sz="1600" b="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The busiest driver is not necessarily the best performer.</a:t>
            </a:r>
            <a:b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sz="1600" b="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Vehicle type affects usage and outcomes.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8D8F1B0-26B6-B0D8-EA9E-5CEF2AB01C66}"/>
              </a:ext>
            </a:extLst>
          </p:cNvPr>
          <p:cNvSpPr txBox="1"/>
          <p:nvPr/>
        </p:nvSpPr>
        <p:spPr>
          <a:xfrm>
            <a:off x="5695840" y="3439358"/>
            <a:ext cx="2743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691FAF0-D89C-5AC4-7FA4-67D442702E0F}"/>
              </a:ext>
            </a:extLst>
          </p:cNvPr>
          <p:cNvSpPr txBox="1"/>
          <p:nvPr/>
        </p:nvSpPr>
        <p:spPr>
          <a:xfrm>
            <a:off x="5764904" y="3851353"/>
            <a:ext cx="4965102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1E1E1E"/>
                </a:solidFill>
                <a:latin typeface="Aptos"/>
              </a:rPr>
              <a:t>Balance workload, success rate and delivery duration when allocating drivers and vehicles.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808684" y="2387212"/>
            <a:ext cx="70074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IN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Areas</a:t>
            </a:r>
            <a:endParaRPr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000"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73595" y="416554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Delivery Problems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CC17FD-6FE2-C38C-3BAB-5BA0DD8E1DE9}"/>
              </a:ext>
            </a:extLst>
          </p:cNvPr>
          <p:cNvSpPr/>
          <p:nvPr/>
        </p:nvSpPr>
        <p:spPr>
          <a:xfrm>
            <a:off x="458797" y="1060668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179988-7207-8528-7B7F-713F8E39930E}"/>
              </a:ext>
            </a:extLst>
          </p:cNvPr>
          <p:cNvSpPr txBox="1"/>
          <p:nvPr/>
        </p:nvSpPr>
        <p:spPr>
          <a:xfrm>
            <a:off x="808684" y="1406686"/>
            <a:ext cx="27963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Operational Problems</a:t>
            </a:r>
          </a:p>
          <a:p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BE5487-D5AD-CB67-E4DB-BF907657F374}"/>
              </a:ext>
            </a:extLst>
          </p:cNvPr>
          <p:cNvSpPr txBox="1"/>
          <p:nvPr/>
        </p:nvSpPr>
        <p:spPr>
          <a:xfrm>
            <a:off x="1265274" y="1782255"/>
            <a:ext cx="7751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spcAft>
                <a:spcPts val="60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165 delivery records required more than one attempt — approximately 4.71% of delivery records.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35DF9B-78C3-F481-295E-0A6307938ECB}"/>
              </a:ext>
            </a:extLst>
          </p:cNvPr>
          <p:cNvSpPr txBox="1"/>
          <p:nvPr/>
        </p:nvSpPr>
        <p:spPr>
          <a:xfrm>
            <a:off x="1265274" y="2719529"/>
            <a:ext cx="62306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Failed deliveries, Pending deliveries, Rescheduled deliveries, Multiple delivery attempts.</a:t>
            </a:r>
          </a:p>
          <a:p>
            <a:endParaRPr lang="en-IN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98D01D-0D93-F1AD-6517-1F2B3CC67958}"/>
              </a:ext>
            </a:extLst>
          </p:cNvPr>
          <p:cNvSpPr txBox="1"/>
          <p:nvPr/>
        </p:nvSpPr>
        <p:spPr>
          <a:xfrm>
            <a:off x="627320" y="4761588"/>
            <a:ext cx="7612913" cy="641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400"/>
              </a:spcBef>
              <a:spcAft>
                <a:spcPts val="200"/>
              </a:spcAft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</a:p>
          <a:p>
            <a:r>
              <a:rPr lang="en-IN" dirty="0"/>
              <a:t>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3075BC-A9FD-A6FF-E75E-25131EBEF953}"/>
              </a:ext>
            </a:extLst>
          </p:cNvPr>
          <p:cNvSpPr txBox="1"/>
          <p:nvPr/>
        </p:nvSpPr>
        <p:spPr>
          <a:xfrm>
            <a:off x="808684" y="3355182"/>
            <a:ext cx="4433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400"/>
              </a:spcBef>
              <a:spcAft>
                <a:spcPts val="200"/>
              </a:spcAft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Zone Findings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1D75C2-47CD-3F0B-DD7E-AA7275838714}"/>
              </a:ext>
            </a:extLst>
          </p:cNvPr>
          <p:cNvSpPr txBox="1"/>
          <p:nvPr/>
        </p:nvSpPr>
        <p:spPr>
          <a:xfrm>
            <a:off x="1265274" y="3879058"/>
            <a:ext cx="8272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ZONE0019 has the highest multiple-attempt rate; ZONE0020 also shows relatively high repeated-attempt activity.</a:t>
            </a:r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5361D5-E7AF-D4B6-D99A-8155F404A186}"/>
              </a:ext>
            </a:extLst>
          </p:cNvPr>
          <p:cNvSpPr txBox="1"/>
          <p:nvPr/>
        </p:nvSpPr>
        <p:spPr>
          <a:xfrm>
            <a:off x="999460" y="5263116"/>
            <a:ext cx="827213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Reducing repeated delivery attempts can reduce operational effort and improve delivery efficiency. Package weight does not show a strong relationship with delivery duration.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427656" y="416554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Lato Black"/>
              </a:rPr>
              <a:t>Overall Key Findings</a:t>
            </a:r>
            <a:endParaRPr sz="1800" b="0" i="0" u="none" strike="noStrike" cap="none" dirty="0">
              <a:solidFill>
                <a:srgbClr val="FF000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27C6F5-2C97-B584-261F-6F2ADCE32D6E}"/>
              </a:ext>
            </a:extLst>
          </p:cNvPr>
          <p:cNvSpPr/>
          <p:nvPr/>
        </p:nvSpPr>
        <p:spPr>
          <a:xfrm>
            <a:off x="365760" y="1049274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C38787E-92E1-A679-F0A1-9C22D1102521}"/>
              </a:ext>
            </a:extLst>
          </p:cNvPr>
          <p:cNvSpPr txBox="1"/>
          <p:nvPr/>
        </p:nvSpPr>
        <p:spPr>
          <a:xfrm>
            <a:off x="822960" y="1405724"/>
            <a:ext cx="98296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DEMAND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E0E8D6C-6E2B-07F6-9441-241D5A46EB3A}"/>
              </a:ext>
            </a:extLst>
          </p:cNvPr>
          <p:cNvSpPr txBox="1"/>
          <p:nvPr/>
        </p:nvSpPr>
        <p:spPr>
          <a:xfrm>
            <a:off x="2141385" y="1397895"/>
            <a:ext cx="423866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ZONE0005 has the highest demand (240 orders).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63EB37-4F0E-F099-56F8-3F420C1C99C8}"/>
              </a:ext>
            </a:extLst>
          </p:cNvPr>
          <p:cNvSpPr txBox="1"/>
          <p:nvPr/>
        </p:nvSpPr>
        <p:spPr>
          <a:xfrm>
            <a:off x="822960" y="2121408"/>
            <a:ext cx="10823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GROWTH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7EC12E-EDDB-8F84-8BAD-78151BE6EC81}"/>
              </a:ext>
            </a:extLst>
          </p:cNvPr>
          <p:cNvSpPr txBox="1"/>
          <p:nvPr/>
        </p:nvSpPr>
        <p:spPr>
          <a:xfrm>
            <a:off x="2141385" y="2118090"/>
            <a:ext cx="51876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demand increased from 608 in 2022 to 1,229 in 2024.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C1595E-E6DB-3F04-B16B-622706C14630}"/>
              </a:ext>
            </a:extLst>
          </p:cNvPr>
          <p:cNvSpPr txBox="1"/>
          <p:nvPr/>
        </p:nvSpPr>
        <p:spPr>
          <a:xfrm>
            <a:off x="822960" y="2850084"/>
            <a:ext cx="12586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A270FA-6C70-EA4B-21F6-B4A36667C61C}"/>
              </a:ext>
            </a:extLst>
          </p:cNvPr>
          <p:cNvSpPr txBox="1"/>
          <p:nvPr/>
        </p:nvSpPr>
        <p:spPr>
          <a:xfrm>
            <a:off x="2141385" y="2800405"/>
            <a:ext cx="636103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Individual customers generate the most demand; Eric Davis has 19 orders.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A0ADC0-15B4-A934-C07D-3ED40B39D326}"/>
              </a:ext>
            </a:extLst>
          </p:cNvPr>
          <p:cNvSpPr txBox="1"/>
          <p:nvPr/>
        </p:nvSpPr>
        <p:spPr>
          <a:xfrm>
            <a:off x="822960" y="3522949"/>
            <a:ext cx="99899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31DA2F2-2990-3C76-CA37-F81DB36A4FAF}"/>
              </a:ext>
            </a:extLst>
          </p:cNvPr>
          <p:cNvSpPr txBox="1"/>
          <p:nvPr/>
        </p:nvSpPr>
        <p:spPr>
          <a:xfrm>
            <a:off x="2141385" y="3542225"/>
            <a:ext cx="601799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2,581 of 3,500 delivery records were delivered; ZONE0020 is weakest.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E089A03-B045-E8F9-2AC9-11C60B456F4A}"/>
              </a:ext>
            </a:extLst>
          </p:cNvPr>
          <p:cNvSpPr txBox="1"/>
          <p:nvPr/>
        </p:nvSpPr>
        <p:spPr>
          <a:xfrm>
            <a:off x="822960" y="4297680"/>
            <a:ext cx="11929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A0B277-0531-897D-7490-9184EB99A0D1}"/>
              </a:ext>
            </a:extLst>
          </p:cNvPr>
          <p:cNvSpPr txBox="1"/>
          <p:nvPr/>
        </p:nvSpPr>
        <p:spPr>
          <a:xfrm>
            <a:off x="2141385" y="4240796"/>
            <a:ext cx="60965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75 of 80 drivers are active; Cargo Bikes and Trucks handle high volume.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682FFA-8349-E824-0162-B20B1807E14C}"/>
              </a:ext>
            </a:extLst>
          </p:cNvPr>
          <p:cNvSpPr txBox="1"/>
          <p:nvPr/>
        </p:nvSpPr>
        <p:spPr>
          <a:xfrm>
            <a:off x="818587" y="4990311"/>
            <a:ext cx="112723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0FD7594-ADD8-6B07-E710-225151E9A5D1}"/>
              </a:ext>
            </a:extLst>
          </p:cNvPr>
          <p:cNvSpPr txBox="1"/>
          <p:nvPr/>
        </p:nvSpPr>
        <p:spPr>
          <a:xfrm>
            <a:off x="2141385" y="4979852"/>
            <a:ext cx="610776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165 deliveries (4.71%) needed multiple attempts; ZONE0019 is highest.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0A272B-6DBD-9DB2-AF6F-C5B279678A73}"/>
              </a:ext>
            </a:extLst>
          </p:cNvPr>
          <p:cNvSpPr txBox="1"/>
          <p:nvPr/>
        </p:nvSpPr>
        <p:spPr>
          <a:xfrm>
            <a:off x="11279902" y="6455664"/>
            <a:ext cx="28725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767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1195011" y="1533089"/>
            <a:ext cx="7927723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Allocate more resources to high-demand zones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especially ZONE0005. </a:t>
            </a:r>
          </a:p>
          <a:p>
            <a:pPr lvl="0"/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Investigate ZONE0020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improve its low delivery success rate. </a:t>
            </a:r>
          </a:p>
          <a:p>
            <a:pPr lvl="0"/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 Economy service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reduce its higher failure rate.</a:t>
            </a:r>
          </a:p>
          <a:p>
            <a:pPr lvl="0"/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multiple delivery attempts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improve delivery efficiency.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 driver and vehicle allocation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based on workload and performance.</a:t>
            </a:r>
          </a:p>
          <a:p>
            <a:pPr lvl="0"/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high-frequency customers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support customer retention.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 future capacity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based on the growing order demand. </a:t>
            </a:r>
          </a:p>
        </p:txBody>
      </p:sp>
      <p:sp>
        <p:nvSpPr>
          <p:cNvPr id="105" name="Google Shape;105;p3"/>
          <p:cNvSpPr txBox="1"/>
          <p:nvPr/>
        </p:nvSpPr>
        <p:spPr>
          <a:xfrm>
            <a:off x="594360" y="418672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Business Recommendations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2D1E8E-8526-C1BA-75AB-982AA94C3957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737812" y="418672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Conclusion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7235CC-EBEB-2B1C-EF16-9C5F74B6593E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ED07D8-954C-4822-18C8-4B150432DC43}"/>
              </a:ext>
            </a:extLst>
          </p:cNvPr>
          <p:cNvSpPr txBox="1"/>
          <p:nvPr/>
        </p:nvSpPr>
        <p:spPr>
          <a:xfrm>
            <a:off x="1421219" y="1560832"/>
            <a:ext cx="92822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Last-Mile Delivery Operations Analytics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project successfully used MySQL to analyse Quick Route Logistics' delivery operations. The analysis identified important patterns in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 demand, customer behaviour, delivery performance, driver and vehicle utilization, and operational issues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1720D8-6040-F1DF-AA44-846A934C6FE3}"/>
              </a:ext>
            </a:extLst>
          </p:cNvPr>
          <p:cNvSpPr txBox="1"/>
          <p:nvPr/>
        </p:nvSpPr>
        <p:spPr>
          <a:xfrm>
            <a:off x="1421219" y="2829412"/>
            <a:ext cx="8846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analysis revealed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growing demand, variations across delivery zones and service types, differences in resource utilization, and recurring delivery issues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These findings provide a clear understanding of the operational areas that require attention.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0E891C-4A8A-5FF9-68BA-D856A00C6665}"/>
              </a:ext>
            </a:extLst>
          </p:cNvPr>
          <p:cNvSpPr txBox="1"/>
          <p:nvPr/>
        </p:nvSpPr>
        <p:spPr>
          <a:xfrm>
            <a:off x="1421219" y="4096840"/>
            <a:ext cx="9998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Overall, these insights can help Quick Route make better decisions in 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 allocation, capacity planning, delivery performance, and customer service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leading to more efficient last-mile operations.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70074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Q&amp;A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A46AD4-DC3F-9499-C248-5CF85D4E5D99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879</TotalTime>
  <Words>1184</Words>
  <Application>Microsoft Office PowerPoint</Application>
  <PresentationFormat>Widescreen</PresentationFormat>
  <Paragraphs>219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Calibri</vt:lpstr>
      <vt:lpstr>Libre Baskerville</vt:lpstr>
      <vt:lpstr>Lato Black</vt:lpstr>
      <vt:lpstr>Book Antiqua</vt:lpstr>
      <vt:lpstr>Arial</vt:lpstr>
      <vt:lpstr>Office Theme</vt:lpstr>
      <vt:lpstr>PowerPoint Presentation</vt:lpstr>
      <vt:lpstr>PowerPoint Presentation</vt:lpstr>
      <vt:lpstr>  Table of contents </vt:lpstr>
      <vt:lpstr>Project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Vasavi K</cp:lastModifiedBy>
  <cp:revision>2</cp:revision>
  <dcterms:created xsi:type="dcterms:W3CDTF">2021-02-16T05:19:01Z</dcterms:created>
  <dcterms:modified xsi:type="dcterms:W3CDTF">2026-08-21T09:50:24Z</dcterms:modified>
</cp:coreProperties>
</file>